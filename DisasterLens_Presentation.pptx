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 Do not narrate this slide. Start talking the instant recording begins, over this card, with the opening line of the Introduction (next slide's notes). Jump straight into content, no 'today I will present...'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major earthquake or flood hits, relief teams are flooded with hundreds of photos and text reports from the field and social media, all at once. Aid workers have minutes, not hours, to figure out which reports describe collapsed buildings and trapped people, and which are routine commentary. Today, that triage is still done by hand. DisasterLens is a multimodal system that reads an image and a text report together, estimates severity and specific resource needs like food, water, shelter, and medical care, and plots it on a map, so responders can prioritize where to send help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builds on two lines of work: AIDER, which showed that a lightweight CNN can classify aerial disaster imagery into damage categories in real time for drone-based response, and CrisisMMD, which established that tweets posted during disasters carry independently useful image and text signals. We combine both ideas: image-based severity and text-based resource extraction, fused into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public datasets. AIDER contributes 6,433 aerial images, remapped from damage categories into four severity levels: none, mild, moderate, and severe. CrisisMMD contributes over sixteen thousand tweets across seven disasters, labeled into eight humanitarian categories, which we map onto four resource needs. Both datasets are heavily imbalanced, so we used macro-averaged metrics and class-weighted loss rather than trusting raw accuracy. Each dataset was split into deterministic 80/10/10 train, validation, and test partitions, shown here, and we built a five-hundred-row conflict fixture with real cases where the image and text disagree, to test how fusion behaves when signals don't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vision, we froze a pretrained CLIP image encoder and trained only a small linear classification head on top, mapping its 512-dimensional embedding to our four severity classes. Freezing the backbone kept training cheap and appropriate for AIDER's comparatively small size, while still leveraging CLIP's broad visual pretraining rather than learning image features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text, we run two signals side by side: a RoBERTa classifier fine-tuned with class-weighted loss on CrisisMMD's eight categories, and a general-purpose LLM that extracts population estimates, resource needs, and locations directly from free text. A fusion layer combines the vision severity with both text signals into a final severity, a resource-need vector, and a plain-language summary. When signals disagree, say a moderate image paired with an urgent report, the policy explicitly favors whichever signal indicates greater urgency, rather than averaging them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vision side, the CLIP classifier reached 98.15% accuracy and a 0.97 macro-F1 on 647 held-out AIDER images, with almost every confusion limited to neighboring severity levels rather than random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told a more honest story. RoBERTa reached only 52.74% accuracy and a macro-F1 of just 0.275 on the rarest categories, because CrisisMMD's labels don't map cleanly onto our four resource needs. That's exactly why we kept a second, LLM-based text signal: on a report explicitly asking for food, RoBERTa missed it entirely, while the LLM extractor caught it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had to evaluate urgency itself, which isn't directly labeled in either dataset. So we built a deterministic proxy rubric, then had both of us independently rate the same 39-tweet sample. We agreed with each other on over 92% of examples, a Cohen's kappa of 0.88, confirming we share a consistent sense of urgency. But the deterministic rubric only matched each of us around 58% of the time, showing it's a useful approximation, not a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LIVE SCREEN RECORDING OF THE RUNNING STREAMLIT APP HERE if possible. This slide is the fallback visual. Narration: Here's DisasterLens running end to end. We feed in an aerial image of a collapsed building alongside a text report describing trapped residents. Vision flags severe. The LLM extractor picks up the medical and shelter mentions and the affected location. RoBERTa independently flags food and water. The fusion layer combines all three into a final severe rating, a resource chart prioritizing medical care first, a plain-language summary, and a geocoded map marker showing responders exactly where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DisasterLens shows that a fast, working relief-triage pipeline doesn't require training one giant multimodal model. It can be assembled from a small fine-tuned vision classifier, a fine-tuned text classifier, and a general-purpose LLM, fused with an explicit, defensible policy for when those signals disagree.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1"/>
        </a:solidFill>
      </p:bgPr>
    </p:bg>
    <p:spTree>
      <p:nvGrpSpPr>
        <p:cNvPr id="1" name=""/>
        <p:cNvGrpSpPr/>
        <p:nvPr/>
      </p:nvGrpSpPr>
      <p:grpSpPr>
        <a:xfrm>
          <a:off x="0" y="0"/>
          <a:ext cx="0" cy="0"/>
          <a:chOff x="0" y="0"/>
          <a:chExt cx="0" cy="0"/>
        </a:xfrm>
      </p:grpSpPr>
      <p:sp>
        <p:nvSpPr>
          <p:cNvPr id="2" name="Shape 0"/>
          <p:cNvSpPr/>
          <p:nvPr/>
        </p:nvSpPr>
        <p:spPr>
          <a:xfrm>
            <a:off x="822960" y="777240"/>
            <a:ext cx="960120" cy="960120"/>
          </a:xfrm>
          <a:prstGeom prst="ellipse">
            <a:avLst/>
          </a:prstGeom>
          <a:solidFill>
            <a:srgbClr val="2F9E5D"/>
          </a:solidFill>
          <a:ln/>
        </p:spPr>
      </p:sp>
      <p:pic>
        <p:nvPicPr>
          <p:cNvPr id="3" name="Image 0" descr="/private/tmp/claude-501/-Users-mahekravinagdev-Documents-Waterside-Platform/d8a71d56-bafe-40f9-a96d-59ffcb0fd906/scratchpad/pptxbuild/icons/alert.png">    </p:cNvPr>
          <p:cNvPicPr>
            <a:picLocks noChangeAspect="1"/>
          </p:cNvPicPr>
          <p:nvPr/>
        </p:nvPicPr>
        <p:blipFill>
          <a:blip r:embed="rId1"/>
          <a:stretch>
            <a:fillRect/>
          </a:stretch>
        </p:blipFill>
        <p:spPr>
          <a:xfrm>
            <a:off x="1062990" y="1017270"/>
            <a:ext cx="480060" cy="480060"/>
          </a:xfrm>
          <a:prstGeom prst="rect">
            <a:avLst/>
          </a:prstGeom>
        </p:spPr>
      </p:pic>
      <p:sp>
        <p:nvSpPr>
          <p:cNvPr id="4" name="Text 1"/>
          <p:cNvSpPr/>
          <p:nvPr/>
        </p:nvSpPr>
        <p:spPr>
          <a:xfrm>
            <a:off x="777240" y="2331720"/>
            <a:ext cx="10515600" cy="118872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DisasterLens</a:t>
            </a:r>
            <a:endParaRPr lang="en-US" sz="5600" dirty="0"/>
          </a:p>
        </p:txBody>
      </p:sp>
      <p:sp>
        <p:nvSpPr>
          <p:cNvPr id="5" name="Text 2"/>
          <p:cNvSpPr/>
          <p:nvPr/>
        </p:nvSpPr>
        <p:spPr>
          <a:xfrm>
            <a:off x="822960" y="3383280"/>
            <a:ext cx="10058400" cy="548640"/>
          </a:xfrm>
          <a:prstGeom prst="rect">
            <a:avLst/>
          </a:prstGeom>
          <a:noFill/>
          <a:ln/>
        </p:spPr>
        <p:txBody>
          <a:bodyPr wrap="square" lIns="0" tIns="0" rIns="0" bIns="0" rtlCol="0" anchor="ctr"/>
          <a:lstStyle/>
          <a:p>
            <a:pPr indent="0" marL="0">
              <a:buNone/>
            </a:pPr>
            <a:r>
              <a:rPr lang="en-US" sz="2000" dirty="0">
                <a:solidFill>
                  <a:srgbClr val="CFE8DA"/>
                </a:solidFill>
                <a:latin typeface="Calibri" pitchFamily="34" charset="0"/>
                <a:ea typeface="Calibri" pitchFamily="34" charset="-122"/>
                <a:cs typeface="Calibri" pitchFamily="34" charset="-120"/>
              </a:rPr>
              <a:t>AI-Assisted Multimodal Triage for Disaster Relief</a:t>
            </a:r>
            <a:endParaRPr lang="en-US" sz="2000" dirty="0"/>
          </a:p>
        </p:txBody>
      </p:sp>
      <p:sp>
        <p:nvSpPr>
          <p:cNvPr id="6" name="Shape 3"/>
          <p:cNvSpPr/>
          <p:nvPr/>
        </p:nvSpPr>
        <p:spPr>
          <a:xfrm>
            <a:off x="822960" y="4160520"/>
            <a:ext cx="0" cy="502920"/>
          </a:xfrm>
          <a:prstGeom prst="line">
            <a:avLst/>
          </a:prstGeom>
          <a:noFill/>
          <a:ln w="25400">
            <a:solidFill>
              <a:srgbClr val="2F9E5D"/>
            </a:solidFill>
            <a:prstDash val="solid"/>
          </a:ln>
        </p:spPr>
      </p:sp>
      <p:sp>
        <p:nvSpPr>
          <p:cNvPr id="7" name="Text 4"/>
          <p:cNvSpPr/>
          <p:nvPr/>
        </p:nvSpPr>
        <p:spPr>
          <a:xfrm>
            <a:off x="822960" y="598932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Mahek Nagdev  &amp;  Pratyusha Jaitly</a:t>
            </a:r>
            <a:endParaRPr lang="en-US" sz="1500" dirty="0"/>
          </a:p>
        </p:txBody>
      </p:sp>
      <p:sp>
        <p:nvSpPr>
          <p:cNvPr id="8" name="Text 5"/>
          <p:cNvSpPr/>
          <p:nvPr/>
        </p:nvSpPr>
        <p:spPr>
          <a:xfrm>
            <a:off x="822960" y="6327648"/>
            <a:ext cx="7315200" cy="320040"/>
          </a:xfrm>
          <a:prstGeom prst="rect">
            <a:avLst/>
          </a:prstGeom>
          <a:noFill/>
          <a:ln/>
        </p:spPr>
        <p:txBody>
          <a:bodyPr wrap="square" lIns="0" tIns="0" rIns="0" bIns="0" rtlCol="0" anchor="ctr"/>
          <a:lstStyle/>
          <a:p>
            <a:pPr indent="0" marL="0">
              <a:buNone/>
            </a:pPr>
            <a:r>
              <a:rPr lang="en-US" sz="1250" dirty="0">
                <a:solidFill>
                  <a:srgbClr val="8FB09E"/>
                </a:solidFill>
                <a:latin typeface="Calibri" pitchFamily="34" charset="0"/>
                <a:ea typeface="Calibri" pitchFamily="34" charset="-122"/>
                <a:cs typeface="Calibri" pitchFamily="34" charset="-120"/>
              </a:rPr>
              <a:t>CS6140, Machine Learning  |  Final Project Presentation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640080" y="685800"/>
            <a:ext cx="6766560" cy="822960"/>
          </a:xfrm>
          <a:prstGeom prst="rect">
            <a:avLst/>
          </a:prstGeom>
          <a:noFill/>
          <a:ln/>
        </p:spPr>
        <p:txBody>
          <a:bodyPr wrap="square" lIns="0" tIns="0" rIns="0" bIns="0" rtlCol="0" anchor="ctr"/>
          <a:lstStyle/>
          <a:p>
            <a:pPr indent="0" marL="0">
              <a:buNone/>
            </a:pPr>
            <a:r>
              <a:rPr lang="en-US" sz="3000" b="1" dirty="0">
                <a:solidFill>
                  <a:srgbClr val="142620"/>
                </a:solidFill>
                <a:latin typeface="Cambria" pitchFamily="34" charset="0"/>
                <a:ea typeface="Cambria" pitchFamily="34" charset="-122"/>
                <a:cs typeface="Cambria" pitchFamily="34" charset="-120"/>
              </a:rPr>
              <a:t>When disaster strikes, minutes matter</a:t>
            </a:r>
            <a:endParaRPr lang="en-US" sz="3000" dirty="0"/>
          </a:p>
        </p:txBody>
      </p:sp>
      <p:sp>
        <p:nvSpPr>
          <p:cNvPr id="4" name="Text 2"/>
          <p:cNvSpPr/>
          <p:nvPr/>
        </p:nvSpPr>
        <p:spPr>
          <a:xfrm>
            <a:off x="640080" y="1783080"/>
            <a:ext cx="6309360" cy="1554480"/>
          </a:xfrm>
          <a:prstGeom prst="rect">
            <a:avLst/>
          </a:prstGeom>
          <a:noFill/>
          <a:ln/>
        </p:spPr>
        <p:txBody>
          <a:bodyPr wrap="square" lIns="0" tIns="0" rIns="0" bIns="0" rtlCol="0" anchor="ctr"/>
          <a:lstStyle/>
          <a:p>
            <a:pPr indent="0" marL="0">
              <a:lnSpc>
                <a:spcPct val="115000"/>
              </a:lnSpc>
              <a:buNone/>
            </a:pPr>
            <a:r>
              <a:rPr lang="en-US" sz="1600" dirty="0">
                <a:solidFill>
                  <a:srgbClr val="142620"/>
                </a:solidFill>
                <a:latin typeface="Calibri" pitchFamily="34" charset="0"/>
                <a:ea typeface="Calibri" pitchFamily="34" charset="-122"/>
                <a:cs typeface="Calibri" pitchFamily="34" charset="-120"/>
              </a:rPr>
              <a:t>Relief teams are flooded with hundreds of photos and text reports from the field and social media, all at once. Responders have minutes, not hours, to tell a collapsed building with people trapped apart from routine news commentary.</a:t>
            </a:r>
            <a:endParaRPr lang="en-US" sz="1600" dirty="0"/>
          </a:p>
        </p:txBody>
      </p:sp>
      <p:sp>
        <p:nvSpPr>
          <p:cNvPr id="5" name="Shape 3"/>
          <p:cNvSpPr/>
          <p:nvPr/>
        </p:nvSpPr>
        <p:spPr>
          <a:xfrm>
            <a:off x="640080" y="3520440"/>
            <a:ext cx="6309360" cy="1828800"/>
          </a:xfrm>
          <a:prstGeom prst="roundRect">
            <a:avLst>
              <a:gd name="adj" fmla="val 4000"/>
            </a:avLst>
          </a:prstGeom>
          <a:solidFill>
            <a:srgbClr val="EFF5F1"/>
          </a:solidFill>
          <a:ln/>
          <a:effectLst>
            <a:outerShdw sx="100000" sy="100000" kx="0" ky="0" algn="bl" rotWithShape="0" blurRad="76200" dist="38100" dir="5400000">
              <a:srgbClr val="0A0E27">
                <a:alpha val="25000"/>
              </a:srgbClr>
            </a:outerShdw>
          </a:effectLst>
        </p:spPr>
      </p:sp>
      <p:sp>
        <p:nvSpPr>
          <p:cNvPr id="6" name="Text 4"/>
          <p:cNvSpPr/>
          <p:nvPr/>
        </p:nvSpPr>
        <p:spPr>
          <a:xfrm>
            <a:off x="914400" y="3703320"/>
            <a:ext cx="5760720" cy="1508760"/>
          </a:xfrm>
          <a:prstGeom prst="rect">
            <a:avLst/>
          </a:prstGeom>
          <a:noFill/>
          <a:ln/>
        </p:spPr>
        <p:txBody>
          <a:bodyPr wrap="square" lIns="0" tIns="0" rIns="0" bIns="0" rtlCol="0" anchor="ctr"/>
          <a:lstStyle/>
          <a:p>
            <a:pPr indent="0" marL="0">
              <a:lnSpc>
                <a:spcPct val="115000"/>
              </a:lnSpc>
              <a:buNone/>
            </a:pPr>
            <a:r>
              <a:rPr lang="en-US" sz="1450" b="1" dirty="0">
                <a:solidFill>
                  <a:srgbClr val="142620"/>
                </a:solidFill>
                <a:latin typeface="Calibri" pitchFamily="34" charset="0"/>
                <a:ea typeface="Calibri" pitchFamily="34" charset="-122"/>
                <a:cs typeface="Calibri" pitchFamily="34" charset="-120"/>
              </a:rPr>
              <a:t>Today, this triage is still done by hand.
</a:t>
            </a:r>
            <a:endParaRPr lang="en-US" sz="1450" dirty="0"/>
          </a:p>
          <a:p>
            <a:pPr indent="0" marL="0">
              <a:lnSpc>
                <a:spcPct val="115000"/>
              </a:lnSpc>
              <a:buNone/>
            </a:pPr>
            <a:r>
              <a:rPr lang="en-US" sz="1450" dirty="0">
                <a:solidFill>
                  <a:srgbClr val="142620"/>
                </a:solidFill>
                <a:latin typeface="Calibri" pitchFamily="34" charset="0"/>
                <a:ea typeface="Calibri" pitchFamily="34" charset="-122"/>
                <a:cs typeface="Calibri" pitchFamily="34" charset="-120"/>
              </a:rPr>
              <a:t>DisasterLens reads an image and a text report together, estimates severity and specific resource needs (food, water, shelter, medical) and plots it on a map, so responders can prioritize where to send help first.</a:t>
            </a:r>
            <a:endParaRPr lang="en-US" sz="1450" dirty="0"/>
          </a:p>
        </p:txBody>
      </p:sp>
      <p:sp>
        <p:nvSpPr>
          <p:cNvPr id="7" name="Shape 5"/>
          <p:cNvSpPr/>
          <p:nvPr/>
        </p:nvSpPr>
        <p:spPr>
          <a:xfrm>
            <a:off x="7315200" y="1874520"/>
            <a:ext cx="914400" cy="914400"/>
          </a:xfrm>
          <a:prstGeom prst="ellipse">
            <a:avLst/>
          </a:prstGeom>
          <a:solidFill>
            <a:srgbClr val="1B4332"/>
          </a:solidFill>
          <a:ln/>
        </p:spPr>
      </p:sp>
      <p:pic>
        <p:nvPicPr>
          <p:cNvPr id="8" name="Image 0" descr="/private/tmp/claude-501/-Users-mahekravinagdev-Documents-Waterside-Platform/d8a71d56-bafe-40f9-a96d-59ffcb0fd906/scratchpad/pptxbuild/icons/image.png">    </p:cNvPr>
          <p:cNvPicPr>
            <a:picLocks noChangeAspect="1"/>
          </p:cNvPicPr>
          <p:nvPr/>
        </p:nvPicPr>
        <p:blipFill>
          <a:blip r:embed="rId1"/>
          <a:stretch>
            <a:fillRect/>
          </a:stretch>
        </p:blipFill>
        <p:spPr>
          <a:xfrm>
            <a:off x="7516368" y="2075688"/>
            <a:ext cx="512064" cy="512064"/>
          </a:xfrm>
          <a:prstGeom prst="rect">
            <a:avLst/>
          </a:prstGeom>
        </p:spPr>
      </p:pic>
      <p:sp>
        <p:nvSpPr>
          <p:cNvPr id="9" name="Shape 6"/>
          <p:cNvSpPr/>
          <p:nvPr/>
        </p:nvSpPr>
        <p:spPr>
          <a:xfrm>
            <a:off x="7315200" y="3108960"/>
            <a:ext cx="914400" cy="914400"/>
          </a:xfrm>
          <a:prstGeom prst="ellipse">
            <a:avLst/>
          </a:prstGeom>
          <a:solidFill>
            <a:srgbClr val="1B4332"/>
          </a:solidFill>
          <a:ln/>
        </p:spPr>
      </p:sp>
      <p:pic>
        <p:nvPicPr>
          <p:cNvPr id="10" name="Image 1" descr="/private/tmp/claude-501/-Users-mahekravinagdev-Documents-Waterside-Platform/d8a71d56-bafe-40f9-a96d-59ffcb0fd906/scratchpad/pptxbuild/icons/crisismmd.png">    </p:cNvPr>
          <p:cNvPicPr>
            <a:picLocks noChangeAspect="1"/>
          </p:cNvPicPr>
          <p:nvPr/>
        </p:nvPicPr>
        <p:blipFill>
          <a:blip r:embed="rId2"/>
          <a:stretch>
            <a:fillRect/>
          </a:stretch>
        </p:blipFill>
        <p:spPr>
          <a:xfrm>
            <a:off x="7516368" y="3310128"/>
            <a:ext cx="512064" cy="512064"/>
          </a:xfrm>
          <a:prstGeom prst="rect">
            <a:avLst/>
          </a:prstGeom>
        </p:spPr>
      </p:pic>
      <p:sp>
        <p:nvSpPr>
          <p:cNvPr id="11" name="Text 7"/>
          <p:cNvSpPr/>
          <p:nvPr/>
        </p:nvSpPr>
        <p:spPr>
          <a:xfrm>
            <a:off x="8092440" y="2395728"/>
            <a:ext cx="457200" cy="548640"/>
          </a:xfrm>
          <a:prstGeom prst="rect">
            <a:avLst/>
          </a:prstGeom>
          <a:noFill/>
          <a:ln/>
        </p:spPr>
        <p:txBody>
          <a:bodyPr wrap="square" lIns="0" tIns="0" rIns="0" bIns="0" rtlCol="0" anchor="ctr"/>
          <a:lstStyle/>
          <a:p>
            <a:pPr algn="ctr" indent="0" marL="0">
              <a:buNone/>
            </a:pPr>
            <a:r>
              <a:rPr lang="en-US" sz="2600" b="1" dirty="0">
                <a:solidFill>
                  <a:srgbClr val="5C6F64"/>
                </a:solidFill>
              </a:rPr>
              <a:t>+</a:t>
            </a:r>
            <a:endParaRPr lang="en-US" sz="2600" dirty="0"/>
          </a:p>
        </p:txBody>
      </p:sp>
      <p:sp>
        <p:nvSpPr>
          <p:cNvPr id="12" name="Shape 8"/>
          <p:cNvSpPr/>
          <p:nvPr/>
        </p:nvSpPr>
        <p:spPr>
          <a:xfrm>
            <a:off x="8366760" y="2651760"/>
            <a:ext cx="1051560" cy="0"/>
          </a:xfrm>
          <a:prstGeom prst="line">
            <a:avLst/>
          </a:prstGeom>
          <a:noFill/>
          <a:ln w="19050">
            <a:solidFill>
              <a:srgbClr val="5C6F64"/>
            </a:solidFill>
            <a:prstDash val="dash"/>
          </a:ln>
        </p:spPr>
      </p:sp>
      <p:sp>
        <p:nvSpPr>
          <p:cNvPr id="13" name="Shape 9"/>
          <p:cNvSpPr/>
          <p:nvPr/>
        </p:nvSpPr>
        <p:spPr>
          <a:xfrm>
            <a:off x="9555480" y="2148840"/>
            <a:ext cx="1371600" cy="1371600"/>
          </a:xfrm>
          <a:prstGeom prst="ellipse">
            <a:avLst/>
          </a:prstGeom>
          <a:solidFill>
            <a:srgbClr val="2F9E5D"/>
          </a:solidFill>
          <a:ln/>
        </p:spPr>
      </p:sp>
      <p:pic>
        <p:nvPicPr>
          <p:cNvPr id="14" name="Image 2" descr="/private/tmp/claude-501/-Users-mahekravinagdev-Documents-Waterside-Platform/d8a71d56-bafe-40f9-a96d-59ffcb0fd906/scratchpad/pptxbuild/icons/alert.png">    </p:cNvPr>
          <p:cNvPicPr>
            <a:picLocks noChangeAspect="1"/>
          </p:cNvPicPr>
          <p:nvPr/>
        </p:nvPicPr>
        <p:blipFill>
          <a:blip r:embed="rId3"/>
          <a:stretch>
            <a:fillRect/>
          </a:stretch>
        </p:blipFill>
        <p:spPr>
          <a:xfrm>
            <a:off x="9898380" y="2491740"/>
            <a:ext cx="685800" cy="685800"/>
          </a:xfrm>
          <a:prstGeom prst="rect">
            <a:avLst/>
          </a:prstGeom>
        </p:spPr>
      </p:pic>
      <p:sp>
        <p:nvSpPr>
          <p:cNvPr id="15" name="Text 10"/>
          <p:cNvSpPr/>
          <p:nvPr/>
        </p:nvSpPr>
        <p:spPr>
          <a:xfrm>
            <a:off x="8915400" y="3611880"/>
            <a:ext cx="2743200" cy="822960"/>
          </a:xfrm>
          <a:prstGeom prst="rect">
            <a:avLst/>
          </a:prstGeom>
          <a:noFill/>
          <a:ln/>
        </p:spPr>
        <p:txBody>
          <a:bodyPr wrap="square" lIns="0" tIns="0" rIns="0" bIns="0" rtlCol="0" anchor="ctr"/>
          <a:lstStyle/>
          <a:p>
            <a:pPr algn="ctr" indent="0" marL="0">
              <a:lnSpc>
                <a:spcPct val="110000"/>
              </a:lnSpc>
              <a:buNone/>
            </a:pPr>
            <a:r>
              <a:rPr lang="en-US" sz="1500" b="1" dirty="0">
                <a:solidFill>
                  <a:srgbClr val="142620"/>
                </a:solidFill>
                <a:latin typeface="Calibri" pitchFamily="34" charset="0"/>
                <a:ea typeface="Calibri" pitchFamily="34" charset="-122"/>
                <a:cs typeface="Calibri" pitchFamily="34" charset="-120"/>
              </a:rPr>
              <a:t>Priority triage</a:t>
            </a:r>
            <a:endParaRPr lang="en-US" sz="1500" dirty="0"/>
          </a:p>
          <a:p>
            <a:pPr algn="ctr" indent="0" marL="0">
              <a:lnSpc>
                <a:spcPct val="110000"/>
              </a:lnSpc>
              <a:buNone/>
            </a:pPr>
            <a:r>
              <a:rPr lang="en-US" sz="1500" b="1" dirty="0">
                <a:solidFill>
                  <a:srgbClr val="142620"/>
                </a:solidFill>
                <a:latin typeface="Calibri" pitchFamily="34" charset="0"/>
                <a:ea typeface="Calibri" pitchFamily="34" charset="-122"/>
                <a:cs typeface="Calibri" pitchFamily="34" charset="-120"/>
              </a:rPr>
              <a:t>in seconds</a:t>
            </a:r>
            <a:endParaRPr lang="en-US" sz="1500" dirty="0"/>
          </a:p>
        </p:txBody>
      </p:sp>
      <p:sp>
        <p:nvSpPr>
          <p:cNvPr id="16" name="Text 11"/>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2 / 11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RELATED WORK</a:t>
            </a:r>
            <a:endParaRPr lang="en-US" sz="1300" dirty="0"/>
          </a:p>
        </p:txBody>
      </p:sp>
      <p:sp>
        <p:nvSpPr>
          <p:cNvPr id="3" name="Text 1"/>
          <p:cNvSpPr/>
          <p:nvPr/>
        </p:nvSpPr>
        <p:spPr>
          <a:xfrm>
            <a:off x="640080" y="685800"/>
            <a:ext cx="10881360" cy="822960"/>
          </a:xfrm>
          <a:prstGeom prst="rect">
            <a:avLst/>
          </a:prstGeom>
          <a:noFill/>
          <a:ln/>
        </p:spPr>
        <p:txBody>
          <a:bodyPr wrap="square" lIns="0" tIns="0" rIns="0" bIns="0" rtlCol="0" anchor="ctr"/>
          <a:lstStyle/>
          <a:p>
            <a:pPr indent="0" marL="0">
              <a:buNone/>
            </a:pPr>
            <a:r>
              <a:rPr lang="en-US" sz="3000" b="1" dirty="0">
                <a:solidFill>
                  <a:srgbClr val="142620"/>
                </a:solidFill>
                <a:latin typeface="Cambria" pitchFamily="34" charset="0"/>
                <a:ea typeface="Cambria" pitchFamily="34" charset="-122"/>
                <a:cs typeface="Cambria" pitchFamily="34" charset="-120"/>
              </a:rPr>
              <a:t>Two ideas we build directly on</a:t>
            </a:r>
            <a:endParaRPr lang="en-US" sz="3000" dirty="0"/>
          </a:p>
        </p:txBody>
      </p:sp>
      <p:sp>
        <p:nvSpPr>
          <p:cNvPr id="4" name="Shape 2"/>
          <p:cNvSpPr/>
          <p:nvPr/>
        </p:nvSpPr>
        <p:spPr>
          <a:xfrm>
            <a:off x="640080" y="1920240"/>
            <a:ext cx="5120640" cy="3749040"/>
          </a:xfrm>
          <a:prstGeom prst="roundRect">
            <a:avLst>
              <a:gd name="adj" fmla="val 2195"/>
            </a:avLst>
          </a:prstGeom>
          <a:solidFill>
            <a:srgbClr val="EFF5F1"/>
          </a:solidFill>
          <a:ln/>
          <a:effectLst>
            <a:outerShdw sx="100000" sy="100000" kx="0" ky="0" algn="bl" rotWithShape="0" blurRad="76200" dist="38100" dir="5400000">
              <a:srgbClr val="0A0E27">
                <a:alpha val="25000"/>
              </a:srgbClr>
            </a:outerShdw>
          </a:effectLst>
        </p:spPr>
      </p:sp>
      <p:sp>
        <p:nvSpPr>
          <p:cNvPr id="5" name="Shape 3"/>
          <p:cNvSpPr/>
          <p:nvPr/>
        </p:nvSpPr>
        <p:spPr>
          <a:xfrm>
            <a:off x="1005840" y="2286000"/>
            <a:ext cx="868680" cy="868680"/>
          </a:xfrm>
          <a:prstGeom prst="ellipse">
            <a:avLst/>
          </a:prstGeom>
          <a:solidFill>
            <a:srgbClr val="1B4332"/>
          </a:solidFill>
          <a:ln/>
        </p:spPr>
      </p:sp>
      <p:pic>
        <p:nvPicPr>
          <p:cNvPr id="6" name="Image 0" descr="/private/tmp/claude-501/-Users-mahekravinagdev-Documents-Waterside-Platform/d8a71d56-bafe-40f9-a96d-59ffcb0fd906/scratchpad/pptxbuild/icons/aider.png">    </p:cNvPr>
          <p:cNvPicPr>
            <a:picLocks noChangeAspect="1"/>
          </p:cNvPicPr>
          <p:nvPr/>
        </p:nvPicPr>
        <p:blipFill>
          <a:blip r:embed="rId1"/>
          <a:stretch>
            <a:fillRect/>
          </a:stretch>
        </p:blipFill>
        <p:spPr>
          <a:xfrm>
            <a:off x="1196950" y="2477110"/>
            <a:ext cx="486461" cy="486461"/>
          </a:xfrm>
          <a:prstGeom prst="rect">
            <a:avLst/>
          </a:prstGeom>
        </p:spPr>
      </p:pic>
      <p:sp>
        <p:nvSpPr>
          <p:cNvPr id="7" name="Text 4"/>
          <p:cNvSpPr/>
          <p:nvPr/>
        </p:nvSpPr>
        <p:spPr>
          <a:xfrm>
            <a:off x="2057400" y="2304288"/>
            <a:ext cx="3200400" cy="457200"/>
          </a:xfrm>
          <a:prstGeom prst="rect">
            <a:avLst/>
          </a:prstGeom>
          <a:noFill/>
          <a:ln/>
        </p:spPr>
        <p:txBody>
          <a:bodyPr wrap="square" lIns="0" tIns="0" rIns="0" bIns="0" rtlCol="0" anchor="ctr"/>
          <a:lstStyle/>
          <a:p>
            <a:pPr indent="0" marL="0">
              <a:buNone/>
            </a:pPr>
            <a:r>
              <a:rPr lang="en-US" sz="2000" b="1" dirty="0">
                <a:solidFill>
                  <a:srgbClr val="142620"/>
                </a:solidFill>
                <a:latin typeface="Cambria" pitchFamily="34" charset="0"/>
                <a:ea typeface="Cambria" pitchFamily="34" charset="-122"/>
                <a:cs typeface="Cambria" pitchFamily="34" charset="-120"/>
              </a:rPr>
              <a:t>AIDER</a:t>
            </a:r>
            <a:endParaRPr lang="en-US" sz="2000" dirty="0"/>
          </a:p>
        </p:txBody>
      </p:sp>
      <p:sp>
        <p:nvSpPr>
          <p:cNvPr id="8" name="Text 5"/>
          <p:cNvSpPr/>
          <p:nvPr/>
        </p:nvSpPr>
        <p:spPr>
          <a:xfrm>
            <a:off x="2057400" y="2697480"/>
            <a:ext cx="3200400" cy="320040"/>
          </a:xfrm>
          <a:prstGeom prst="rect">
            <a:avLst/>
          </a:prstGeom>
          <a:noFill/>
          <a:ln/>
        </p:spPr>
        <p:txBody>
          <a:bodyPr wrap="square" lIns="0" tIns="0" rIns="0" bIns="0" rtlCol="0" anchor="ctr"/>
          <a:lstStyle/>
          <a:p>
            <a:pPr indent="0" marL="0">
              <a:buNone/>
            </a:pPr>
            <a:r>
              <a:rPr lang="en-US" sz="1200" i="1" dirty="0">
                <a:solidFill>
                  <a:srgbClr val="5C6F64"/>
                </a:solidFill>
                <a:latin typeface="Calibri" pitchFamily="34" charset="0"/>
                <a:ea typeface="Calibri" pitchFamily="34" charset="-122"/>
                <a:cs typeface="Calibri" pitchFamily="34" charset="-120"/>
              </a:rPr>
              <a:t>Kyrkou &amp; Theocharides, 2019</a:t>
            </a:r>
            <a:endParaRPr lang="en-US" sz="1200" dirty="0"/>
          </a:p>
        </p:txBody>
      </p:sp>
      <p:sp>
        <p:nvSpPr>
          <p:cNvPr id="9" name="Text 6"/>
          <p:cNvSpPr/>
          <p:nvPr/>
        </p:nvSpPr>
        <p:spPr>
          <a:xfrm>
            <a:off x="1005840" y="3337560"/>
            <a:ext cx="4389120" cy="2194560"/>
          </a:xfrm>
          <a:prstGeom prst="rect">
            <a:avLst/>
          </a:prstGeom>
          <a:noFill/>
          <a:ln/>
        </p:spPr>
        <p:txBody>
          <a:bodyPr wrap="square" lIns="0" tIns="0" rIns="0" bIns="0" rtlCol="0" anchor="ctr"/>
          <a:lstStyle/>
          <a:p>
            <a:pPr indent="0" marL="0">
              <a:lnSpc>
                <a:spcPct val="120000"/>
              </a:lnSpc>
              <a:buNone/>
            </a:pPr>
            <a:r>
              <a:rPr lang="en-US" sz="1450" dirty="0">
                <a:solidFill>
                  <a:srgbClr val="142620"/>
                </a:solidFill>
                <a:latin typeface="Calibri" pitchFamily="34" charset="0"/>
                <a:ea typeface="Calibri" pitchFamily="34" charset="-122"/>
                <a:cs typeface="Calibri" pitchFamily="34" charset="-120"/>
              </a:rPr>
              <a:t>Showed a lightweight CNN can classify aerial disaster imagery into damage categories in real time for drone-based response, proof that vision alone can carry a useful severity signal.</a:t>
            </a:r>
            <a:endParaRPr lang="en-US" sz="1450" dirty="0"/>
          </a:p>
        </p:txBody>
      </p:sp>
      <p:sp>
        <p:nvSpPr>
          <p:cNvPr id="10" name="Shape 7"/>
          <p:cNvSpPr/>
          <p:nvPr/>
        </p:nvSpPr>
        <p:spPr>
          <a:xfrm>
            <a:off x="6217920" y="1920240"/>
            <a:ext cx="5120640" cy="3749040"/>
          </a:xfrm>
          <a:prstGeom prst="roundRect">
            <a:avLst>
              <a:gd name="adj" fmla="val 2195"/>
            </a:avLst>
          </a:prstGeom>
          <a:solidFill>
            <a:srgbClr val="EFF5F1"/>
          </a:solidFill>
          <a:ln/>
          <a:effectLst>
            <a:outerShdw sx="100000" sy="100000" kx="0" ky="0" algn="bl" rotWithShape="0" blurRad="76200" dist="38100" dir="5400000">
              <a:srgbClr val="0A0E27">
                <a:alpha val="25000"/>
              </a:srgbClr>
            </a:outerShdw>
          </a:effectLst>
        </p:spPr>
      </p:sp>
      <p:sp>
        <p:nvSpPr>
          <p:cNvPr id="11" name="Shape 8"/>
          <p:cNvSpPr/>
          <p:nvPr/>
        </p:nvSpPr>
        <p:spPr>
          <a:xfrm>
            <a:off x="6583680" y="2286000"/>
            <a:ext cx="868680" cy="868680"/>
          </a:xfrm>
          <a:prstGeom prst="ellipse">
            <a:avLst/>
          </a:prstGeom>
          <a:solidFill>
            <a:srgbClr val="2F9E5D"/>
          </a:solidFill>
          <a:ln/>
        </p:spPr>
      </p:sp>
      <p:pic>
        <p:nvPicPr>
          <p:cNvPr id="12" name="Image 1" descr="/private/tmp/claude-501/-Users-mahekravinagdev-Documents-Waterside-Platform/d8a71d56-bafe-40f9-a96d-59ffcb0fd906/scratchpad/pptxbuild/icons/crisismmd.png">    </p:cNvPr>
          <p:cNvPicPr>
            <a:picLocks noChangeAspect="1"/>
          </p:cNvPicPr>
          <p:nvPr/>
        </p:nvPicPr>
        <p:blipFill>
          <a:blip r:embed="rId2"/>
          <a:stretch>
            <a:fillRect/>
          </a:stretch>
        </p:blipFill>
        <p:spPr>
          <a:xfrm>
            <a:off x="6774790" y="2477110"/>
            <a:ext cx="486461" cy="486461"/>
          </a:xfrm>
          <a:prstGeom prst="rect">
            <a:avLst/>
          </a:prstGeom>
        </p:spPr>
      </p:pic>
      <p:sp>
        <p:nvSpPr>
          <p:cNvPr id="13" name="Text 9"/>
          <p:cNvSpPr/>
          <p:nvPr/>
        </p:nvSpPr>
        <p:spPr>
          <a:xfrm>
            <a:off x="7635240" y="2304288"/>
            <a:ext cx="3200400" cy="457200"/>
          </a:xfrm>
          <a:prstGeom prst="rect">
            <a:avLst/>
          </a:prstGeom>
          <a:noFill/>
          <a:ln/>
        </p:spPr>
        <p:txBody>
          <a:bodyPr wrap="square" lIns="0" tIns="0" rIns="0" bIns="0" rtlCol="0" anchor="ctr"/>
          <a:lstStyle/>
          <a:p>
            <a:pPr indent="0" marL="0">
              <a:buNone/>
            </a:pPr>
            <a:r>
              <a:rPr lang="en-US" sz="2000" b="1" dirty="0">
                <a:solidFill>
                  <a:srgbClr val="142620"/>
                </a:solidFill>
                <a:latin typeface="Cambria" pitchFamily="34" charset="0"/>
                <a:ea typeface="Cambria" pitchFamily="34" charset="-122"/>
                <a:cs typeface="Cambria" pitchFamily="34" charset="-120"/>
              </a:rPr>
              <a:t>CrisisMMD</a:t>
            </a:r>
            <a:endParaRPr lang="en-US" sz="2000" dirty="0"/>
          </a:p>
        </p:txBody>
      </p:sp>
      <p:sp>
        <p:nvSpPr>
          <p:cNvPr id="14" name="Text 10"/>
          <p:cNvSpPr/>
          <p:nvPr/>
        </p:nvSpPr>
        <p:spPr>
          <a:xfrm>
            <a:off x="7635240" y="2697480"/>
            <a:ext cx="3200400" cy="320040"/>
          </a:xfrm>
          <a:prstGeom prst="rect">
            <a:avLst/>
          </a:prstGeom>
          <a:noFill/>
          <a:ln/>
        </p:spPr>
        <p:txBody>
          <a:bodyPr wrap="square" lIns="0" tIns="0" rIns="0" bIns="0" rtlCol="0" anchor="ctr"/>
          <a:lstStyle/>
          <a:p>
            <a:pPr indent="0" marL="0">
              <a:buNone/>
            </a:pPr>
            <a:r>
              <a:rPr lang="en-US" sz="1200" i="1" dirty="0">
                <a:solidFill>
                  <a:srgbClr val="5C6F64"/>
                </a:solidFill>
                <a:latin typeface="Calibri" pitchFamily="34" charset="0"/>
                <a:ea typeface="Calibri" pitchFamily="34" charset="-122"/>
                <a:cs typeface="Calibri" pitchFamily="34" charset="-120"/>
              </a:rPr>
              <a:t>Alam, Ofli &amp; Imran, 2018</a:t>
            </a:r>
            <a:endParaRPr lang="en-US" sz="1200" dirty="0"/>
          </a:p>
        </p:txBody>
      </p:sp>
      <p:sp>
        <p:nvSpPr>
          <p:cNvPr id="15" name="Text 11"/>
          <p:cNvSpPr/>
          <p:nvPr/>
        </p:nvSpPr>
        <p:spPr>
          <a:xfrm>
            <a:off x="6583680" y="3337560"/>
            <a:ext cx="4389120" cy="2194560"/>
          </a:xfrm>
          <a:prstGeom prst="rect">
            <a:avLst/>
          </a:prstGeom>
          <a:noFill/>
          <a:ln/>
        </p:spPr>
        <p:txBody>
          <a:bodyPr wrap="square" lIns="0" tIns="0" rIns="0" bIns="0" rtlCol="0" anchor="ctr"/>
          <a:lstStyle/>
          <a:p>
            <a:pPr indent="0" marL="0">
              <a:lnSpc>
                <a:spcPct val="120000"/>
              </a:lnSpc>
              <a:buNone/>
            </a:pPr>
            <a:r>
              <a:rPr lang="en-US" sz="1450" dirty="0">
                <a:solidFill>
                  <a:srgbClr val="142620"/>
                </a:solidFill>
                <a:latin typeface="Calibri" pitchFamily="34" charset="0"/>
                <a:ea typeface="Calibri" pitchFamily="34" charset="-122"/>
                <a:cs typeface="Calibri" pitchFamily="34" charset="-120"/>
              </a:rPr>
              <a:t>Established that tweets posted during disasters carry independently useful image and text signals, the basis for treating vision and language as separate, comparable channels instead of one blended input.</a:t>
            </a:r>
            <a:endParaRPr lang="en-US" sz="1450" dirty="0"/>
          </a:p>
        </p:txBody>
      </p:sp>
      <p:sp>
        <p:nvSpPr>
          <p:cNvPr id="16" name="Text 12"/>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3 /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DATA &amp; FEATURES</a:t>
            </a:r>
            <a:endParaRPr lang="en-US" sz="1300" dirty="0"/>
          </a:p>
        </p:txBody>
      </p:sp>
      <p:sp>
        <p:nvSpPr>
          <p:cNvPr id="3" name="Text 1"/>
          <p:cNvSpPr/>
          <p:nvPr/>
        </p:nvSpPr>
        <p:spPr>
          <a:xfrm>
            <a:off x="640080" y="685800"/>
            <a:ext cx="10972800" cy="822960"/>
          </a:xfrm>
          <a:prstGeom prst="rect">
            <a:avLst/>
          </a:prstGeom>
          <a:noFill/>
          <a:ln/>
        </p:spPr>
        <p:txBody>
          <a:bodyPr wrap="square" lIns="0" tIns="0" rIns="0" bIns="0" rtlCol="0" anchor="ctr"/>
          <a:lstStyle/>
          <a:p>
            <a:pPr indent="0" marL="0">
              <a:buNone/>
            </a:pPr>
            <a:r>
              <a:rPr lang="en-US" sz="2700" b="1" dirty="0">
                <a:solidFill>
                  <a:srgbClr val="142620"/>
                </a:solidFill>
                <a:latin typeface="Cambria" pitchFamily="34" charset="0"/>
                <a:ea typeface="Cambria" pitchFamily="34" charset="-122"/>
                <a:cs typeface="Cambria" pitchFamily="34" charset="-120"/>
              </a:rPr>
              <a:t>Two datasets, two heavily imbalanced label spaces</a:t>
            </a:r>
            <a:endParaRPr lang="en-US" sz="2700" dirty="0"/>
          </a:p>
        </p:txBody>
      </p:sp>
      <p:pic>
        <p:nvPicPr>
          <p:cNvPr id="4" name="Image 0" descr="/Users/mahekravinagdev/Documents/ML Project /report_figures/class_distribution.png">    </p:cNvPr>
          <p:cNvPicPr>
            <a:picLocks noChangeAspect="1"/>
          </p:cNvPicPr>
          <p:nvPr/>
        </p:nvPicPr>
        <p:blipFill>
          <a:blip r:embed="rId1"/>
          <a:stretch>
            <a:fillRect/>
          </a:stretch>
        </p:blipFill>
        <p:spPr>
          <a:xfrm>
            <a:off x="640080" y="1600200"/>
            <a:ext cx="10908792" cy="3127248"/>
          </a:xfrm>
          <a:prstGeom prst="rect">
            <a:avLst/>
          </a:prstGeom>
        </p:spPr>
      </p:pic>
      <p:sp>
        <p:nvSpPr>
          <p:cNvPr id="5" name="Shape 2"/>
          <p:cNvSpPr/>
          <p:nvPr/>
        </p:nvSpPr>
        <p:spPr>
          <a:xfrm>
            <a:off x="640080" y="4892040"/>
            <a:ext cx="3429000" cy="868680"/>
          </a:xfrm>
          <a:prstGeom prst="roundRect">
            <a:avLst>
              <a:gd name="adj" fmla="val 8421"/>
            </a:avLst>
          </a:prstGeom>
          <a:solidFill>
            <a:srgbClr val="EFF5F1"/>
          </a:solidFill>
          <a:ln/>
        </p:spPr>
      </p:sp>
      <p:sp>
        <p:nvSpPr>
          <p:cNvPr id="6" name="Text 3"/>
          <p:cNvSpPr/>
          <p:nvPr/>
        </p:nvSpPr>
        <p:spPr>
          <a:xfrm>
            <a:off x="868680" y="4965192"/>
            <a:ext cx="1280160" cy="731520"/>
          </a:xfrm>
          <a:prstGeom prst="rect">
            <a:avLst/>
          </a:prstGeom>
          <a:noFill/>
          <a:ln/>
        </p:spPr>
        <p:txBody>
          <a:bodyPr wrap="square" lIns="0" tIns="0" rIns="0" bIns="0" rtlCol="0" anchor="ctr"/>
          <a:lstStyle/>
          <a:p>
            <a:pPr indent="0" marL="0">
              <a:buNone/>
            </a:pPr>
            <a:r>
              <a:rPr lang="en-US" sz="2400" b="1" dirty="0">
                <a:solidFill>
                  <a:srgbClr val="2F9E5D"/>
                </a:solidFill>
                <a:latin typeface="Cambria" pitchFamily="34" charset="0"/>
                <a:ea typeface="Cambria" pitchFamily="34" charset="-122"/>
                <a:cs typeface="Cambria" pitchFamily="34" charset="-120"/>
              </a:rPr>
              <a:t>6,433</a:t>
            </a:r>
            <a:endParaRPr lang="en-US" sz="2400" dirty="0"/>
          </a:p>
        </p:txBody>
      </p:sp>
      <p:sp>
        <p:nvSpPr>
          <p:cNvPr id="7" name="Text 4"/>
          <p:cNvSpPr/>
          <p:nvPr/>
        </p:nvSpPr>
        <p:spPr>
          <a:xfrm>
            <a:off x="2103120" y="4892040"/>
            <a:ext cx="1783080" cy="868680"/>
          </a:xfrm>
          <a:prstGeom prst="rect">
            <a:avLst/>
          </a:prstGeom>
          <a:noFill/>
          <a:ln/>
        </p:spPr>
        <p:txBody>
          <a:bodyPr wrap="square" lIns="0" tIns="0" rIns="0" bIns="0" rtlCol="0" anchor="ctr"/>
          <a:lstStyle/>
          <a:p>
            <a:pPr indent="0" marL="0">
              <a:lnSpc>
                <a:spcPct val="105000"/>
              </a:lnSpc>
              <a:buNone/>
            </a:pPr>
            <a:r>
              <a:rPr lang="en-US" sz="1250" dirty="0">
                <a:solidFill>
                  <a:srgbClr val="142620"/>
                </a:solidFill>
                <a:latin typeface="Calibri" pitchFamily="34" charset="0"/>
                <a:ea typeface="Calibri" pitchFamily="34" charset="-122"/>
                <a:cs typeface="Calibri" pitchFamily="34" charset="-120"/>
              </a:rPr>
              <a:t>AIDER aerial images</a:t>
            </a:r>
            <a:endParaRPr lang="en-US" sz="1250" dirty="0"/>
          </a:p>
        </p:txBody>
      </p:sp>
      <p:sp>
        <p:nvSpPr>
          <p:cNvPr id="8" name="Shape 5"/>
          <p:cNvSpPr/>
          <p:nvPr/>
        </p:nvSpPr>
        <p:spPr>
          <a:xfrm>
            <a:off x="4389120" y="4892040"/>
            <a:ext cx="3429000" cy="868680"/>
          </a:xfrm>
          <a:prstGeom prst="roundRect">
            <a:avLst>
              <a:gd name="adj" fmla="val 8421"/>
            </a:avLst>
          </a:prstGeom>
          <a:solidFill>
            <a:srgbClr val="EFF5F1"/>
          </a:solidFill>
          <a:ln/>
        </p:spPr>
      </p:sp>
      <p:sp>
        <p:nvSpPr>
          <p:cNvPr id="9" name="Text 6"/>
          <p:cNvSpPr/>
          <p:nvPr/>
        </p:nvSpPr>
        <p:spPr>
          <a:xfrm>
            <a:off x="4617720" y="4965192"/>
            <a:ext cx="1280160" cy="731520"/>
          </a:xfrm>
          <a:prstGeom prst="rect">
            <a:avLst/>
          </a:prstGeom>
          <a:noFill/>
          <a:ln/>
        </p:spPr>
        <p:txBody>
          <a:bodyPr wrap="square" lIns="0" tIns="0" rIns="0" bIns="0" rtlCol="0" anchor="ctr"/>
          <a:lstStyle/>
          <a:p>
            <a:pPr indent="0" marL="0">
              <a:buNone/>
            </a:pPr>
            <a:r>
              <a:rPr lang="en-US" sz="2400" b="1" dirty="0">
                <a:solidFill>
                  <a:srgbClr val="2F9E5D"/>
                </a:solidFill>
                <a:latin typeface="Cambria" pitchFamily="34" charset="0"/>
                <a:ea typeface="Cambria" pitchFamily="34" charset="-122"/>
                <a:cs typeface="Cambria" pitchFamily="34" charset="-120"/>
              </a:rPr>
              <a:t>16,058</a:t>
            </a:r>
            <a:endParaRPr lang="en-US" sz="2400" dirty="0"/>
          </a:p>
        </p:txBody>
      </p:sp>
      <p:sp>
        <p:nvSpPr>
          <p:cNvPr id="10" name="Text 7"/>
          <p:cNvSpPr/>
          <p:nvPr/>
        </p:nvSpPr>
        <p:spPr>
          <a:xfrm>
            <a:off x="5852160" y="4892040"/>
            <a:ext cx="1783080" cy="868680"/>
          </a:xfrm>
          <a:prstGeom prst="rect">
            <a:avLst/>
          </a:prstGeom>
          <a:noFill/>
          <a:ln/>
        </p:spPr>
        <p:txBody>
          <a:bodyPr wrap="square" lIns="0" tIns="0" rIns="0" bIns="0" rtlCol="0" anchor="ctr"/>
          <a:lstStyle/>
          <a:p>
            <a:pPr indent="0" marL="0">
              <a:lnSpc>
                <a:spcPct val="105000"/>
              </a:lnSpc>
              <a:buNone/>
            </a:pPr>
            <a:r>
              <a:rPr lang="en-US" sz="1250" dirty="0">
                <a:solidFill>
                  <a:srgbClr val="142620"/>
                </a:solidFill>
                <a:latin typeface="Calibri" pitchFamily="34" charset="0"/>
                <a:ea typeface="Calibri" pitchFamily="34" charset="-122"/>
                <a:cs typeface="Calibri" pitchFamily="34" charset="-120"/>
              </a:rPr>
              <a:t>unique CrisisMMD tweets</a:t>
            </a:r>
            <a:endParaRPr lang="en-US" sz="1250" dirty="0"/>
          </a:p>
        </p:txBody>
      </p:sp>
      <p:sp>
        <p:nvSpPr>
          <p:cNvPr id="11" name="Shape 8"/>
          <p:cNvSpPr/>
          <p:nvPr/>
        </p:nvSpPr>
        <p:spPr>
          <a:xfrm>
            <a:off x="8138160" y="4892040"/>
            <a:ext cx="3429000" cy="868680"/>
          </a:xfrm>
          <a:prstGeom prst="roundRect">
            <a:avLst>
              <a:gd name="adj" fmla="val 8421"/>
            </a:avLst>
          </a:prstGeom>
          <a:solidFill>
            <a:srgbClr val="EFF5F1"/>
          </a:solidFill>
          <a:ln/>
        </p:spPr>
      </p:sp>
      <p:sp>
        <p:nvSpPr>
          <p:cNvPr id="12" name="Text 9"/>
          <p:cNvSpPr/>
          <p:nvPr/>
        </p:nvSpPr>
        <p:spPr>
          <a:xfrm>
            <a:off x="8366760" y="4965192"/>
            <a:ext cx="1280160" cy="731520"/>
          </a:xfrm>
          <a:prstGeom prst="rect">
            <a:avLst/>
          </a:prstGeom>
          <a:noFill/>
          <a:ln/>
        </p:spPr>
        <p:txBody>
          <a:bodyPr wrap="square" lIns="0" tIns="0" rIns="0" bIns="0" rtlCol="0" anchor="ctr"/>
          <a:lstStyle/>
          <a:p>
            <a:pPr indent="0" marL="0">
              <a:buNone/>
            </a:pPr>
            <a:r>
              <a:rPr lang="en-US" sz="2400" b="1" dirty="0">
                <a:solidFill>
                  <a:srgbClr val="2F9E5D"/>
                </a:solidFill>
                <a:latin typeface="Cambria" pitchFamily="34" charset="0"/>
                <a:ea typeface="Cambria" pitchFamily="34" charset="-122"/>
                <a:cs typeface="Cambria" pitchFamily="34" charset="-120"/>
              </a:rPr>
              <a:t>500</a:t>
            </a:r>
            <a:endParaRPr lang="en-US" sz="2400" dirty="0"/>
          </a:p>
        </p:txBody>
      </p:sp>
      <p:sp>
        <p:nvSpPr>
          <p:cNvPr id="13" name="Text 10"/>
          <p:cNvSpPr/>
          <p:nvPr/>
        </p:nvSpPr>
        <p:spPr>
          <a:xfrm>
            <a:off x="9601200" y="4892040"/>
            <a:ext cx="1783080" cy="868680"/>
          </a:xfrm>
          <a:prstGeom prst="rect">
            <a:avLst/>
          </a:prstGeom>
          <a:noFill/>
          <a:ln/>
        </p:spPr>
        <p:txBody>
          <a:bodyPr wrap="square" lIns="0" tIns="0" rIns="0" bIns="0" rtlCol="0" anchor="ctr"/>
          <a:lstStyle/>
          <a:p>
            <a:pPr indent="0" marL="0">
              <a:lnSpc>
                <a:spcPct val="105000"/>
              </a:lnSpc>
              <a:buNone/>
            </a:pPr>
            <a:r>
              <a:rPr lang="en-US" sz="1250" dirty="0">
                <a:solidFill>
                  <a:srgbClr val="142620"/>
                </a:solidFill>
                <a:latin typeface="Calibri" pitchFamily="34" charset="0"/>
                <a:ea typeface="Calibri" pitchFamily="34" charset="-122"/>
                <a:cs typeface="Calibri" pitchFamily="34" charset="-120"/>
              </a:rPr>
              <a:t>row image-text conflict fixture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5943600"/>
          <a:ext cx="10908792" cy="658368"/>
        </p:xfrm>
        <a:graphic>
          <a:graphicData uri="http://schemas.openxmlformats.org/drawingml/2006/table">
            <a:tbl>
              <a:tblPr/>
              <a:tblGrid>
                <a:gridCol w="2727198"/>
                <a:gridCol w="2727198"/>
                <a:gridCol w="2727198"/>
                <a:gridCol w="2727198"/>
              </a:tblGrid>
              <a:tr h="21945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Train</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Val</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Test</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r>
              <a:tr h="219456">
                <a:tc>
                  <a:txBody>
                    <a:bodyPr/>
                    <a:lstStyle/>
                    <a:p>
                      <a:pPr indent="0" marL="0">
                        <a:buNone/>
                      </a:pPr>
                      <a:r>
                        <a:rPr lang="en-US" sz="1150" dirty="0">
                          <a:solidFill>
                            <a:srgbClr val="142620"/>
                          </a:solidFill>
                          <a:latin typeface="Calibri" pitchFamily="34" charset="0"/>
                          <a:ea typeface="Calibri" pitchFamily="34" charset="-122"/>
                          <a:cs typeface="Calibri" pitchFamily="34" charset="-120"/>
                        </a:rPr>
                        <a:t>AIDER (severity)</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5,144</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642</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647</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219456">
                <a:tc>
                  <a:txBody>
                    <a:bodyPr/>
                    <a:lstStyle/>
                    <a:p>
                      <a:pPr indent="0" marL="0">
                        <a:buNone/>
                      </a:pPr>
                      <a:r>
                        <a:rPr lang="en-US" sz="1150" dirty="0">
                          <a:solidFill>
                            <a:srgbClr val="142620"/>
                          </a:solidFill>
                          <a:latin typeface="Calibri" pitchFamily="34" charset="0"/>
                          <a:ea typeface="Calibri" pitchFamily="34" charset="-122"/>
                          <a:cs typeface="Calibri" pitchFamily="34" charset="-120"/>
                        </a:rPr>
                        <a:t>CrisisMMD (resources)</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12,506</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1,561</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150" dirty="0">
                          <a:solidFill>
                            <a:srgbClr val="142620"/>
                          </a:solidFill>
                          <a:latin typeface="Calibri" pitchFamily="34" charset="0"/>
                          <a:ea typeface="Calibri" pitchFamily="34" charset="-122"/>
                          <a:cs typeface="Calibri" pitchFamily="34" charset="-120"/>
                        </a:rPr>
                        <a:t>1,570</a:t>
                      </a:r>
                      <a:endParaRPr lang="en-US" sz="11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bl>
          </a:graphicData>
        </a:graphic>
      </p:graphicFrame>
      <p:sp>
        <p:nvSpPr>
          <p:cNvPr id="15" name="Text 11"/>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4 / 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METHODS: VISION</a:t>
            </a:r>
            <a:endParaRPr lang="en-US" sz="1300" dirty="0"/>
          </a:p>
        </p:txBody>
      </p:sp>
      <p:sp>
        <p:nvSpPr>
          <p:cNvPr id="3" name="Text 1"/>
          <p:cNvSpPr/>
          <p:nvPr/>
        </p:nvSpPr>
        <p:spPr>
          <a:xfrm>
            <a:off x="640080" y="685800"/>
            <a:ext cx="10972800" cy="822960"/>
          </a:xfrm>
          <a:prstGeom prst="rect">
            <a:avLst/>
          </a:prstGeom>
          <a:noFill/>
          <a:ln/>
        </p:spPr>
        <p:txBody>
          <a:bodyPr wrap="square" lIns="0" tIns="0" rIns="0" bIns="0" rtlCol="0" anchor="ctr"/>
          <a:lstStyle/>
          <a:p>
            <a:pPr indent="0" marL="0">
              <a:buNone/>
            </a:pPr>
            <a:r>
              <a:rPr lang="en-US" sz="2700" b="1" dirty="0">
                <a:solidFill>
                  <a:srgbClr val="142620"/>
                </a:solidFill>
                <a:latin typeface="Cambria" pitchFamily="34" charset="0"/>
                <a:ea typeface="Cambria" pitchFamily="34" charset="-122"/>
                <a:cs typeface="Cambria" pitchFamily="34" charset="-120"/>
              </a:rPr>
              <a:t>Linear probing on a frozen CLIP encoder</a:t>
            </a:r>
            <a:endParaRPr lang="en-US" sz="2700" dirty="0"/>
          </a:p>
        </p:txBody>
      </p:sp>
      <p:sp>
        <p:nvSpPr>
          <p:cNvPr id="4" name="Shape 2"/>
          <p:cNvSpPr/>
          <p:nvPr/>
        </p:nvSpPr>
        <p:spPr>
          <a:xfrm>
            <a:off x="822960" y="2743200"/>
            <a:ext cx="1371600" cy="1371600"/>
          </a:xfrm>
          <a:prstGeom prst="ellipse">
            <a:avLst/>
          </a:prstGeom>
          <a:solidFill>
            <a:srgbClr val="1B4332"/>
          </a:solidFill>
          <a:ln/>
        </p:spPr>
      </p:sp>
      <p:pic>
        <p:nvPicPr>
          <p:cNvPr id="5" name="Image 0" descr="/private/tmp/claude-501/-Users-mahekravinagdev-Documents-Waterside-Platform/d8a71d56-bafe-40f9-a96d-59ffcb0fd906/scratchpad/pptxbuild/icons/image.png">    </p:cNvPr>
          <p:cNvPicPr>
            <a:picLocks noChangeAspect="1"/>
          </p:cNvPicPr>
          <p:nvPr/>
        </p:nvPicPr>
        <p:blipFill>
          <a:blip r:embed="rId1"/>
          <a:stretch>
            <a:fillRect/>
          </a:stretch>
        </p:blipFill>
        <p:spPr>
          <a:xfrm>
            <a:off x="1124712" y="3044952"/>
            <a:ext cx="768096" cy="768096"/>
          </a:xfrm>
          <a:prstGeom prst="rect">
            <a:avLst/>
          </a:prstGeom>
        </p:spPr>
      </p:pic>
      <p:sp>
        <p:nvSpPr>
          <p:cNvPr id="6" name="Text 3"/>
          <p:cNvSpPr/>
          <p:nvPr/>
        </p:nvSpPr>
        <p:spPr>
          <a:xfrm>
            <a:off x="502920" y="4251960"/>
            <a:ext cx="2011680" cy="640080"/>
          </a:xfrm>
          <a:prstGeom prst="rect">
            <a:avLst/>
          </a:prstGeom>
          <a:noFill/>
          <a:ln/>
        </p:spPr>
        <p:txBody>
          <a:bodyPr wrap="square" lIns="0" tIns="0" rIns="0" bIns="0" rtlCol="0" anchor="ctr"/>
          <a:lstStyle/>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Aerial</a:t>
            </a:r>
            <a:endParaRPr lang="en-US" sz="1350" dirty="0"/>
          </a:p>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image</a:t>
            </a:r>
            <a:endParaRPr lang="en-US" sz="1350" dirty="0"/>
          </a:p>
        </p:txBody>
      </p:sp>
      <p:sp>
        <p:nvSpPr>
          <p:cNvPr id="7" name="Shape 4"/>
          <p:cNvSpPr/>
          <p:nvPr/>
        </p:nvSpPr>
        <p:spPr>
          <a:xfrm>
            <a:off x="3520440" y="2743200"/>
            <a:ext cx="1371600" cy="1371600"/>
          </a:xfrm>
          <a:prstGeom prst="ellipse">
            <a:avLst/>
          </a:prstGeom>
          <a:solidFill>
            <a:srgbClr val="1B4332"/>
          </a:solidFill>
          <a:ln/>
        </p:spPr>
      </p:sp>
      <p:pic>
        <p:nvPicPr>
          <p:cNvPr id="8" name="Image 1" descr="/private/tmp/claude-501/-Users-mahekravinagdev-Documents-Waterside-Platform/d8a71d56-bafe-40f9-a96d-59ffcb0fd906/scratchpad/pptxbuild/icons/lock.png">    </p:cNvPr>
          <p:cNvPicPr>
            <a:picLocks noChangeAspect="1"/>
          </p:cNvPicPr>
          <p:nvPr/>
        </p:nvPicPr>
        <p:blipFill>
          <a:blip r:embed="rId2"/>
          <a:stretch>
            <a:fillRect/>
          </a:stretch>
        </p:blipFill>
        <p:spPr>
          <a:xfrm>
            <a:off x="3822192" y="3044952"/>
            <a:ext cx="768096" cy="768096"/>
          </a:xfrm>
          <a:prstGeom prst="rect">
            <a:avLst/>
          </a:prstGeom>
        </p:spPr>
      </p:pic>
      <p:sp>
        <p:nvSpPr>
          <p:cNvPr id="9" name="Text 5"/>
          <p:cNvSpPr/>
          <p:nvPr/>
        </p:nvSpPr>
        <p:spPr>
          <a:xfrm>
            <a:off x="3200400" y="4251960"/>
            <a:ext cx="2011680" cy="640080"/>
          </a:xfrm>
          <a:prstGeom prst="rect">
            <a:avLst/>
          </a:prstGeom>
          <a:noFill/>
          <a:ln/>
        </p:spPr>
        <p:txBody>
          <a:bodyPr wrap="square" lIns="0" tIns="0" rIns="0" bIns="0" rtlCol="0" anchor="ctr"/>
          <a:lstStyle/>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Frozen CLIP</a:t>
            </a:r>
            <a:endParaRPr lang="en-US" sz="1350" dirty="0"/>
          </a:p>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encoder</a:t>
            </a:r>
            <a:endParaRPr lang="en-US" sz="1350" dirty="0"/>
          </a:p>
        </p:txBody>
      </p:sp>
      <p:sp>
        <p:nvSpPr>
          <p:cNvPr id="10" name="Shape 6"/>
          <p:cNvSpPr/>
          <p:nvPr/>
        </p:nvSpPr>
        <p:spPr>
          <a:xfrm>
            <a:off x="6858000" y="2743200"/>
            <a:ext cx="1371600" cy="1371600"/>
          </a:xfrm>
          <a:prstGeom prst="ellipse">
            <a:avLst/>
          </a:prstGeom>
          <a:solidFill>
            <a:srgbClr val="6B9080"/>
          </a:solidFill>
          <a:ln/>
        </p:spPr>
      </p:sp>
      <p:pic>
        <p:nvPicPr>
          <p:cNvPr id="11" name="Image 2" descr="/private/tmp/claude-501/-Users-mahekravinagdev-Documents-Waterside-Platform/d8a71d56-bafe-40f9-a96d-59ffcb0fd906/scratchpad/pptxbuild/icons/chart.png">    </p:cNvPr>
          <p:cNvPicPr>
            <a:picLocks noChangeAspect="1"/>
          </p:cNvPicPr>
          <p:nvPr/>
        </p:nvPicPr>
        <p:blipFill>
          <a:blip r:embed="rId3"/>
          <a:stretch>
            <a:fillRect/>
          </a:stretch>
        </p:blipFill>
        <p:spPr>
          <a:xfrm>
            <a:off x="7159752" y="3044952"/>
            <a:ext cx="768096" cy="768096"/>
          </a:xfrm>
          <a:prstGeom prst="rect">
            <a:avLst/>
          </a:prstGeom>
        </p:spPr>
      </p:pic>
      <p:sp>
        <p:nvSpPr>
          <p:cNvPr id="12" name="Text 7"/>
          <p:cNvSpPr/>
          <p:nvPr/>
        </p:nvSpPr>
        <p:spPr>
          <a:xfrm>
            <a:off x="6537960" y="4251960"/>
            <a:ext cx="2011680" cy="640080"/>
          </a:xfrm>
          <a:prstGeom prst="rect">
            <a:avLst/>
          </a:prstGeom>
          <a:noFill/>
          <a:ln/>
        </p:spPr>
        <p:txBody>
          <a:bodyPr wrap="square" lIns="0" tIns="0" rIns="0" bIns="0" rtlCol="0" anchor="ctr"/>
          <a:lstStyle/>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Trainable</a:t>
            </a:r>
            <a:endParaRPr lang="en-US" sz="1350" dirty="0"/>
          </a:p>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linear head</a:t>
            </a:r>
            <a:endParaRPr lang="en-US" sz="1350" dirty="0"/>
          </a:p>
        </p:txBody>
      </p:sp>
      <p:sp>
        <p:nvSpPr>
          <p:cNvPr id="13" name="Shape 8"/>
          <p:cNvSpPr/>
          <p:nvPr/>
        </p:nvSpPr>
        <p:spPr>
          <a:xfrm>
            <a:off x="9738360" y="2743200"/>
            <a:ext cx="1371600" cy="1371600"/>
          </a:xfrm>
          <a:prstGeom prst="ellipse">
            <a:avLst/>
          </a:prstGeom>
          <a:solidFill>
            <a:srgbClr val="2F9E5D"/>
          </a:solidFill>
          <a:ln/>
        </p:spPr>
      </p:sp>
      <p:pic>
        <p:nvPicPr>
          <p:cNvPr id="14" name="Image 3" descr="/private/tmp/claude-501/-Users-mahekravinagdev-Documents-Waterside-Platform/d8a71d56-bafe-40f9-a96d-59ffcb0fd906/scratchpad/pptxbuild/icons/alert.png">    </p:cNvPr>
          <p:cNvPicPr>
            <a:picLocks noChangeAspect="1"/>
          </p:cNvPicPr>
          <p:nvPr/>
        </p:nvPicPr>
        <p:blipFill>
          <a:blip r:embed="rId4"/>
          <a:stretch>
            <a:fillRect/>
          </a:stretch>
        </p:blipFill>
        <p:spPr>
          <a:xfrm>
            <a:off x="10040112" y="3044952"/>
            <a:ext cx="768096" cy="768096"/>
          </a:xfrm>
          <a:prstGeom prst="rect">
            <a:avLst/>
          </a:prstGeom>
        </p:spPr>
      </p:pic>
      <p:sp>
        <p:nvSpPr>
          <p:cNvPr id="15" name="Text 9"/>
          <p:cNvSpPr/>
          <p:nvPr/>
        </p:nvSpPr>
        <p:spPr>
          <a:xfrm>
            <a:off x="9418320" y="4251960"/>
            <a:ext cx="2011680" cy="640080"/>
          </a:xfrm>
          <a:prstGeom prst="rect">
            <a:avLst/>
          </a:prstGeom>
          <a:noFill/>
          <a:ln/>
        </p:spPr>
        <p:txBody>
          <a:bodyPr wrap="square" lIns="0" tIns="0" rIns="0" bIns="0" rtlCol="0" anchor="ctr"/>
          <a:lstStyle/>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Severity</a:t>
            </a:r>
            <a:endParaRPr lang="en-US" sz="1350" dirty="0"/>
          </a:p>
          <a:p>
            <a:pPr algn="ctr" indent="0" marL="0">
              <a:lnSpc>
                <a:spcPct val="105000"/>
              </a:lnSpc>
              <a:buNone/>
            </a:pPr>
            <a:r>
              <a:rPr lang="en-US" sz="1350" b="1" dirty="0">
                <a:solidFill>
                  <a:srgbClr val="142620"/>
                </a:solidFill>
                <a:latin typeface="Calibri" pitchFamily="34" charset="0"/>
                <a:ea typeface="Calibri" pitchFamily="34" charset="-122"/>
                <a:cs typeface="Calibri" pitchFamily="34" charset="-120"/>
              </a:rPr>
              <a:t>(4 classes)</a:t>
            </a:r>
            <a:endParaRPr lang="en-US" sz="1350" dirty="0"/>
          </a:p>
        </p:txBody>
      </p:sp>
      <p:sp>
        <p:nvSpPr>
          <p:cNvPr id="16" name="Shape 10"/>
          <p:cNvSpPr/>
          <p:nvPr/>
        </p:nvSpPr>
        <p:spPr>
          <a:xfrm>
            <a:off x="2304288" y="3429000"/>
            <a:ext cx="1106424" cy="0"/>
          </a:xfrm>
          <a:prstGeom prst="line">
            <a:avLst/>
          </a:prstGeom>
          <a:noFill/>
          <a:ln w="25400">
            <a:solidFill>
              <a:srgbClr val="5C6F64"/>
            </a:solidFill>
            <a:prstDash val="solid"/>
            <a:tailEnd type="triangle"/>
          </a:ln>
        </p:spPr>
      </p:sp>
      <p:sp>
        <p:nvSpPr>
          <p:cNvPr id="17" name="Shape 11"/>
          <p:cNvSpPr/>
          <p:nvPr/>
        </p:nvSpPr>
        <p:spPr>
          <a:xfrm>
            <a:off x="5001768" y="3429000"/>
            <a:ext cx="1746504" cy="0"/>
          </a:xfrm>
          <a:prstGeom prst="line">
            <a:avLst/>
          </a:prstGeom>
          <a:noFill/>
          <a:ln w="25400">
            <a:solidFill>
              <a:srgbClr val="5C6F64"/>
            </a:solidFill>
            <a:prstDash val="solid"/>
            <a:tailEnd type="triangle"/>
          </a:ln>
        </p:spPr>
      </p:sp>
      <p:sp>
        <p:nvSpPr>
          <p:cNvPr id="18" name="Shape 12"/>
          <p:cNvSpPr/>
          <p:nvPr/>
        </p:nvSpPr>
        <p:spPr>
          <a:xfrm>
            <a:off x="8339328" y="3429000"/>
            <a:ext cx="1289304" cy="0"/>
          </a:xfrm>
          <a:prstGeom prst="line">
            <a:avLst/>
          </a:prstGeom>
          <a:noFill/>
          <a:ln w="25400">
            <a:solidFill>
              <a:srgbClr val="5C6F64"/>
            </a:solidFill>
            <a:prstDash val="solid"/>
            <a:tailEnd type="triangle"/>
          </a:ln>
        </p:spPr>
      </p:sp>
      <p:sp>
        <p:nvSpPr>
          <p:cNvPr id="19" name="Shape 13"/>
          <p:cNvSpPr/>
          <p:nvPr/>
        </p:nvSpPr>
        <p:spPr>
          <a:xfrm>
            <a:off x="822960" y="5074920"/>
            <a:ext cx="10543032" cy="1234440"/>
          </a:xfrm>
          <a:prstGeom prst="roundRect">
            <a:avLst>
              <a:gd name="adj" fmla="val 5926"/>
            </a:avLst>
          </a:prstGeom>
          <a:solidFill>
            <a:srgbClr val="EFF5F1"/>
          </a:solidFill>
          <a:ln/>
        </p:spPr>
      </p:sp>
      <p:sp>
        <p:nvSpPr>
          <p:cNvPr id="20" name="Text 14"/>
          <p:cNvSpPr/>
          <p:nvPr/>
        </p:nvSpPr>
        <p:spPr>
          <a:xfrm>
            <a:off x="1097280" y="5193792"/>
            <a:ext cx="9966960" cy="1005840"/>
          </a:xfrm>
          <a:prstGeom prst="rect">
            <a:avLst/>
          </a:prstGeom>
          <a:noFill/>
          <a:ln/>
        </p:spPr>
        <p:txBody>
          <a:bodyPr wrap="square" lIns="0" tIns="0" rIns="0" bIns="0" rtlCol="0" anchor="ctr"/>
          <a:lstStyle/>
          <a:p>
            <a:pPr indent="0" marL="0">
              <a:lnSpc>
                <a:spcPct val="115000"/>
              </a:lnSpc>
              <a:buNone/>
            </a:pPr>
            <a:r>
              <a:rPr lang="en-US" sz="1400" dirty="0">
                <a:solidFill>
                  <a:srgbClr val="142620"/>
                </a:solidFill>
                <a:latin typeface="Calibri" pitchFamily="34" charset="0"/>
                <a:ea typeface="Calibri" pitchFamily="34" charset="-122"/>
                <a:cs typeface="Calibri" pitchFamily="34" charset="-120"/>
              </a:rPr>
              <a:t>The pretrained backbone stays frozen: only a small 512→128→4 classification head is trained. This keeps training cheap and appropriate for AIDER's comparatively small size, while still leveraging CLIP's broad visual pretraining instead of learning image features from scratch.</a:t>
            </a:r>
            <a:endParaRPr lang="en-US" sz="1400" dirty="0"/>
          </a:p>
        </p:txBody>
      </p:sp>
      <p:sp>
        <p:nvSpPr>
          <p:cNvPr id="21" name="Text 15"/>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5 / 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METHODS: TEXT &amp; FUSION</a:t>
            </a:r>
            <a:endParaRPr lang="en-US" sz="1300" dirty="0"/>
          </a:p>
        </p:txBody>
      </p:sp>
      <p:sp>
        <p:nvSpPr>
          <p:cNvPr id="3" name="Text 1"/>
          <p:cNvSpPr/>
          <p:nvPr/>
        </p:nvSpPr>
        <p:spPr>
          <a:xfrm>
            <a:off x="640080" y="685800"/>
            <a:ext cx="11155680" cy="822960"/>
          </a:xfrm>
          <a:prstGeom prst="rect">
            <a:avLst/>
          </a:prstGeom>
          <a:noFill/>
          <a:ln/>
        </p:spPr>
        <p:txBody>
          <a:bodyPr wrap="square" lIns="0" tIns="0" rIns="0" bIns="0" rtlCol="0" anchor="ctr"/>
          <a:lstStyle/>
          <a:p>
            <a:pPr indent="0" marL="0">
              <a:buNone/>
            </a:pPr>
            <a:r>
              <a:rPr lang="en-US" sz="2600" b="1" dirty="0">
                <a:solidFill>
                  <a:srgbClr val="142620"/>
                </a:solidFill>
                <a:latin typeface="Cambria" pitchFamily="34" charset="0"/>
                <a:ea typeface="Cambria" pitchFamily="34" charset="-122"/>
                <a:cs typeface="Cambria" pitchFamily="34" charset="-120"/>
              </a:rPr>
              <a:t>Two text signals, fused with an explicit policy</a:t>
            </a:r>
            <a:endParaRPr lang="en-US" sz="2600" dirty="0"/>
          </a:p>
        </p:txBody>
      </p:sp>
      <p:sp>
        <p:nvSpPr>
          <p:cNvPr id="4" name="Shape 2"/>
          <p:cNvSpPr/>
          <p:nvPr/>
        </p:nvSpPr>
        <p:spPr>
          <a:xfrm>
            <a:off x="731520" y="1691640"/>
            <a:ext cx="3200400" cy="1325880"/>
          </a:xfrm>
          <a:prstGeom prst="roundRect">
            <a:avLst>
              <a:gd name="adj" fmla="val 5517"/>
            </a:avLst>
          </a:prstGeom>
          <a:solidFill>
            <a:srgbClr val="EFF5F1"/>
          </a:solidFill>
          <a:ln/>
          <a:effectLst>
            <a:outerShdw sx="100000" sy="100000" kx="0" ky="0" algn="bl" rotWithShape="0" blurRad="76200" dist="38100" dir="5400000">
              <a:srgbClr val="0A0E27">
                <a:alpha val="25000"/>
              </a:srgbClr>
            </a:outerShdw>
          </a:effectLst>
        </p:spPr>
      </p:sp>
      <p:sp>
        <p:nvSpPr>
          <p:cNvPr id="5" name="Shape 3"/>
          <p:cNvSpPr/>
          <p:nvPr/>
        </p:nvSpPr>
        <p:spPr>
          <a:xfrm>
            <a:off x="960120" y="1988820"/>
            <a:ext cx="731520" cy="731520"/>
          </a:xfrm>
          <a:prstGeom prst="ellipse">
            <a:avLst/>
          </a:prstGeom>
          <a:solidFill>
            <a:srgbClr val="1B4332"/>
          </a:solidFill>
          <a:ln/>
        </p:spPr>
      </p:sp>
      <p:pic>
        <p:nvPicPr>
          <p:cNvPr id="6" name="Image 0" descr="/private/tmp/claude-501/-Users-mahekravinagdev-Documents-Waterside-Platform/d8a71d56-bafe-40f9-a96d-59ffcb0fd906/scratchpad/pptxbuild/icons/robot.png">    </p:cNvPr>
          <p:cNvPicPr>
            <a:picLocks noChangeAspect="1"/>
          </p:cNvPicPr>
          <p:nvPr/>
        </p:nvPicPr>
        <p:blipFill>
          <a:blip r:embed="rId1"/>
          <a:stretch>
            <a:fillRect/>
          </a:stretch>
        </p:blipFill>
        <p:spPr>
          <a:xfrm>
            <a:off x="1124712" y="2153412"/>
            <a:ext cx="402336" cy="402336"/>
          </a:xfrm>
          <a:prstGeom prst="rect">
            <a:avLst/>
          </a:prstGeom>
        </p:spPr>
      </p:pic>
      <p:sp>
        <p:nvSpPr>
          <p:cNvPr id="7" name="Text 4"/>
          <p:cNvSpPr/>
          <p:nvPr/>
        </p:nvSpPr>
        <p:spPr>
          <a:xfrm>
            <a:off x="1828800" y="1947672"/>
            <a:ext cx="1920240" cy="457200"/>
          </a:xfrm>
          <a:prstGeom prst="rect">
            <a:avLst/>
          </a:prstGeom>
          <a:noFill/>
          <a:ln/>
        </p:spPr>
        <p:txBody>
          <a:bodyPr wrap="square" lIns="0" tIns="0" rIns="0" bIns="0" rtlCol="0" anchor="ctr"/>
          <a:lstStyle/>
          <a:p>
            <a:pPr indent="0" marL="0">
              <a:buNone/>
            </a:pPr>
            <a:r>
              <a:rPr lang="en-US" sz="1650" b="1" dirty="0">
                <a:solidFill>
                  <a:srgbClr val="142620"/>
                </a:solidFill>
                <a:latin typeface="Cambria" pitchFamily="34" charset="0"/>
                <a:ea typeface="Cambria" pitchFamily="34" charset="-122"/>
                <a:cs typeface="Cambria" pitchFamily="34" charset="-120"/>
              </a:rPr>
              <a:t>RoBERTa</a:t>
            </a:r>
            <a:endParaRPr lang="en-US" sz="1650" dirty="0"/>
          </a:p>
        </p:txBody>
      </p:sp>
      <p:sp>
        <p:nvSpPr>
          <p:cNvPr id="8" name="Text 5"/>
          <p:cNvSpPr/>
          <p:nvPr/>
        </p:nvSpPr>
        <p:spPr>
          <a:xfrm>
            <a:off x="1828800" y="2368296"/>
            <a:ext cx="1920240" cy="594360"/>
          </a:xfrm>
          <a:prstGeom prst="rect">
            <a:avLst/>
          </a:prstGeom>
          <a:noFill/>
          <a:ln/>
        </p:spPr>
        <p:txBody>
          <a:bodyPr wrap="square" lIns="0" tIns="0" rIns="0" bIns="0" rtlCol="0" anchor="ctr"/>
          <a:lstStyle/>
          <a:p>
            <a:pPr indent="0" marL="0">
              <a:lnSpc>
                <a:spcPct val="110000"/>
              </a:lnSpc>
              <a:buNone/>
            </a:pPr>
            <a:r>
              <a:rPr lang="en-US" sz="1150" dirty="0">
                <a:solidFill>
                  <a:srgbClr val="5C6F64"/>
                </a:solidFill>
                <a:latin typeface="Calibri" pitchFamily="34" charset="0"/>
                <a:ea typeface="Calibri" pitchFamily="34" charset="-122"/>
                <a:cs typeface="Calibri" pitchFamily="34" charset="-120"/>
              </a:rPr>
              <a:t>fine-tuned, class-weighted</a:t>
            </a:r>
            <a:endParaRPr lang="en-US" sz="1150" dirty="0"/>
          </a:p>
        </p:txBody>
      </p:sp>
      <p:sp>
        <p:nvSpPr>
          <p:cNvPr id="9" name="Shape 6"/>
          <p:cNvSpPr/>
          <p:nvPr/>
        </p:nvSpPr>
        <p:spPr>
          <a:xfrm>
            <a:off x="4494276" y="1691640"/>
            <a:ext cx="3200400" cy="1325880"/>
          </a:xfrm>
          <a:prstGeom prst="roundRect">
            <a:avLst>
              <a:gd name="adj" fmla="val 5517"/>
            </a:avLst>
          </a:prstGeom>
          <a:solidFill>
            <a:srgbClr val="EFF5F1"/>
          </a:solidFill>
          <a:ln/>
          <a:effectLst>
            <a:outerShdw sx="100000" sy="100000" kx="0" ky="0" algn="bl" rotWithShape="0" blurRad="76200" dist="38100" dir="5400000">
              <a:srgbClr val="0A0E27">
                <a:alpha val="25000"/>
              </a:srgbClr>
            </a:outerShdw>
          </a:effectLst>
        </p:spPr>
      </p:sp>
      <p:sp>
        <p:nvSpPr>
          <p:cNvPr id="10" name="Shape 7"/>
          <p:cNvSpPr/>
          <p:nvPr/>
        </p:nvSpPr>
        <p:spPr>
          <a:xfrm>
            <a:off x="4722876" y="1988820"/>
            <a:ext cx="731520" cy="731520"/>
          </a:xfrm>
          <a:prstGeom prst="ellipse">
            <a:avLst/>
          </a:prstGeom>
          <a:solidFill>
            <a:srgbClr val="1B4332"/>
          </a:solidFill>
          <a:ln/>
        </p:spPr>
      </p:sp>
      <p:pic>
        <p:nvPicPr>
          <p:cNvPr id="11" name="Image 1" descr="/private/tmp/claude-501/-Users-mahekravinagdev-Documents-Waterside-Platform/d8a71d56-bafe-40f9-a96d-59ffcb0fd906/scratchpad/pptxbuild/icons/magic.png">    </p:cNvPr>
          <p:cNvPicPr>
            <a:picLocks noChangeAspect="1"/>
          </p:cNvPicPr>
          <p:nvPr/>
        </p:nvPicPr>
        <p:blipFill>
          <a:blip r:embed="rId2"/>
          <a:stretch>
            <a:fillRect/>
          </a:stretch>
        </p:blipFill>
        <p:spPr>
          <a:xfrm>
            <a:off x="4887468" y="2153412"/>
            <a:ext cx="402336" cy="402336"/>
          </a:xfrm>
          <a:prstGeom prst="rect">
            <a:avLst/>
          </a:prstGeom>
        </p:spPr>
      </p:pic>
      <p:sp>
        <p:nvSpPr>
          <p:cNvPr id="12" name="Text 8"/>
          <p:cNvSpPr/>
          <p:nvPr/>
        </p:nvSpPr>
        <p:spPr>
          <a:xfrm>
            <a:off x="5591556" y="1947672"/>
            <a:ext cx="1920240" cy="457200"/>
          </a:xfrm>
          <a:prstGeom prst="rect">
            <a:avLst/>
          </a:prstGeom>
          <a:noFill/>
          <a:ln/>
        </p:spPr>
        <p:txBody>
          <a:bodyPr wrap="square" lIns="0" tIns="0" rIns="0" bIns="0" rtlCol="0" anchor="ctr"/>
          <a:lstStyle/>
          <a:p>
            <a:pPr indent="0" marL="0">
              <a:buNone/>
            </a:pPr>
            <a:r>
              <a:rPr lang="en-US" sz="1650" b="1" dirty="0">
                <a:solidFill>
                  <a:srgbClr val="142620"/>
                </a:solidFill>
                <a:latin typeface="Cambria" pitchFamily="34" charset="0"/>
                <a:ea typeface="Cambria" pitchFamily="34" charset="-122"/>
                <a:cs typeface="Cambria" pitchFamily="34" charset="-120"/>
              </a:rPr>
              <a:t>LLM Extractor</a:t>
            </a:r>
            <a:endParaRPr lang="en-US" sz="1650" dirty="0"/>
          </a:p>
        </p:txBody>
      </p:sp>
      <p:sp>
        <p:nvSpPr>
          <p:cNvPr id="13" name="Text 9"/>
          <p:cNvSpPr/>
          <p:nvPr/>
        </p:nvSpPr>
        <p:spPr>
          <a:xfrm>
            <a:off x="5591556" y="2368296"/>
            <a:ext cx="1920240" cy="594360"/>
          </a:xfrm>
          <a:prstGeom prst="rect">
            <a:avLst/>
          </a:prstGeom>
          <a:noFill/>
          <a:ln/>
        </p:spPr>
        <p:txBody>
          <a:bodyPr wrap="square" lIns="0" tIns="0" rIns="0" bIns="0" rtlCol="0" anchor="ctr"/>
          <a:lstStyle/>
          <a:p>
            <a:pPr indent="0" marL="0">
              <a:lnSpc>
                <a:spcPct val="110000"/>
              </a:lnSpc>
              <a:buNone/>
            </a:pPr>
            <a:r>
              <a:rPr lang="en-US" sz="1150" dirty="0">
                <a:solidFill>
                  <a:srgbClr val="5C6F64"/>
                </a:solidFill>
                <a:latin typeface="Calibri" pitchFamily="34" charset="0"/>
                <a:ea typeface="Calibri" pitchFamily="34" charset="-122"/>
                <a:cs typeface="Calibri" pitchFamily="34" charset="-120"/>
              </a:rPr>
              <a:t>Gemini structured output</a:t>
            </a:r>
            <a:endParaRPr lang="en-US" sz="1150" dirty="0"/>
          </a:p>
        </p:txBody>
      </p:sp>
      <p:sp>
        <p:nvSpPr>
          <p:cNvPr id="14" name="Shape 10"/>
          <p:cNvSpPr/>
          <p:nvPr/>
        </p:nvSpPr>
        <p:spPr>
          <a:xfrm>
            <a:off x="8257032" y="1691640"/>
            <a:ext cx="3200400" cy="1325880"/>
          </a:xfrm>
          <a:prstGeom prst="roundRect">
            <a:avLst>
              <a:gd name="adj" fmla="val 5517"/>
            </a:avLst>
          </a:prstGeom>
          <a:solidFill>
            <a:srgbClr val="EFF5F1"/>
          </a:solidFill>
          <a:ln/>
          <a:effectLst>
            <a:outerShdw sx="100000" sy="100000" kx="0" ky="0" algn="bl" rotWithShape="0" blurRad="76200" dist="38100" dir="5400000">
              <a:srgbClr val="0A0E27">
                <a:alpha val="25000"/>
              </a:srgbClr>
            </a:outerShdw>
          </a:effectLst>
        </p:spPr>
      </p:sp>
      <p:sp>
        <p:nvSpPr>
          <p:cNvPr id="15" name="Shape 11"/>
          <p:cNvSpPr/>
          <p:nvPr/>
        </p:nvSpPr>
        <p:spPr>
          <a:xfrm>
            <a:off x="8485632" y="1988820"/>
            <a:ext cx="731520" cy="731520"/>
          </a:xfrm>
          <a:prstGeom prst="ellipse">
            <a:avLst/>
          </a:prstGeom>
          <a:solidFill>
            <a:srgbClr val="1B4332"/>
          </a:solidFill>
          <a:ln/>
        </p:spPr>
      </p:sp>
      <p:pic>
        <p:nvPicPr>
          <p:cNvPr id="16" name="Image 2" descr="/private/tmp/claude-501/-Users-mahekravinagdev-Documents-Waterside-Platform/d8a71d56-bafe-40f9-a96d-59ffcb0fd906/scratchpad/pptxbuild/icons/image.png">    </p:cNvPr>
          <p:cNvPicPr>
            <a:picLocks noChangeAspect="1"/>
          </p:cNvPicPr>
          <p:nvPr/>
        </p:nvPicPr>
        <p:blipFill>
          <a:blip r:embed="rId3"/>
          <a:stretch>
            <a:fillRect/>
          </a:stretch>
        </p:blipFill>
        <p:spPr>
          <a:xfrm>
            <a:off x="8650224" y="2153412"/>
            <a:ext cx="402336" cy="402336"/>
          </a:xfrm>
          <a:prstGeom prst="rect">
            <a:avLst/>
          </a:prstGeom>
        </p:spPr>
      </p:pic>
      <p:sp>
        <p:nvSpPr>
          <p:cNvPr id="17" name="Text 12"/>
          <p:cNvSpPr/>
          <p:nvPr/>
        </p:nvSpPr>
        <p:spPr>
          <a:xfrm>
            <a:off x="9354312" y="1947672"/>
            <a:ext cx="1920240" cy="457200"/>
          </a:xfrm>
          <a:prstGeom prst="rect">
            <a:avLst/>
          </a:prstGeom>
          <a:noFill/>
          <a:ln/>
        </p:spPr>
        <p:txBody>
          <a:bodyPr wrap="square" lIns="0" tIns="0" rIns="0" bIns="0" rtlCol="0" anchor="ctr"/>
          <a:lstStyle/>
          <a:p>
            <a:pPr indent="0" marL="0">
              <a:buNone/>
            </a:pPr>
            <a:r>
              <a:rPr lang="en-US" sz="1650" b="1" dirty="0">
                <a:solidFill>
                  <a:srgbClr val="142620"/>
                </a:solidFill>
                <a:latin typeface="Cambria" pitchFamily="34" charset="0"/>
                <a:ea typeface="Cambria" pitchFamily="34" charset="-122"/>
                <a:cs typeface="Cambria" pitchFamily="34" charset="-120"/>
              </a:rPr>
              <a:t>Vision</a:t>
            </a:r>
            <a:endParaRPr lang="en-US" sz="1650" dirty="0"/>
          </a:p>
        </p:txBody>
      </p:sp>
      <p:sp>
        <p:nvSpPr>
          <p:cNvPr id="18" name="Text 13"/>
          <p:cNvSpPr/>
          <p:nvPr/>
        </p:nvSpPr>
        <p:spPr>
          <a:xfrm>
            <a:off x="9354312" y="2368296"/>
            <a:ext cx="1920240" cy="594360"/>
          </a:xfrm>
          <a:prstGeom prst="rect">
            <a:avLst/>
          </a:prstGeom>
          <a:noFill/>
          <a:ln/>
        </p:spPr>
        <p:txBody>
          <a:bodyPr wrap="square" lIns="0" tIns="0" rIns="0" bIns="0" rtlCol="0" anchor="ctr"/>
          <a:lstStyle/>
          <a:p>
            <a:pPr indent="0" marL="0">
              <a:lnSpc>
                <a:spcPct val="110000"/>
              </a:lnSpc>
              <a:buNone/>
            </a:pPr>
            <a:r>
              <a:rPr lang="en-US" sz="1150" dirty="0">
                <a:solidFill>
                  <a:srgbClr val="5C6F64"/>
                </a:solidFill>
                <a:latin typeface="Calibri" pitchFamily="34" charset="0"/>
                <a:ea typeface="Calibri" pitchFamily="34" charset="-122"/>
                <a:cs typeface="Calibri" pitchFamily="34" charset="-120"/>
              </a:rPr>
              <a:t>CLIP severity</a:t>
            </a:r>
            <a:endParaRPr lang="en-US" sz="1150" dirty="0"/>
          </a:p>
        </p:txBody>
      </p:sp>
      <p:sp>
        <p:nvSpPr>
          <p:cNvPr id="19" name="Shape 14"/>
          <p:cNvSpPr/>
          <p:nvPr/>
        </p:nvSpPr>
        <p:spPr>
          <a:xfrm>
            <a:off x="2331720" y="3017520"/>
            <a:ext cx="0" cy="320040"/>
          </a:xfrm>
          <a:prstGeom prst="line">
            <a:avLst/>
          </a:prstGeom>
          <a:noFill/>
          <a:ln w="22225">
            <a:solidFill>
              <a:srgbClr val="5C6F64"/>
            </a:solidFill>
            <a:prstDash val="solid"/>
          </a:ln>
        </p:spPr>
      </p:sp>
      <p:sp>
        <p:nvSpPr>
          <p:cNvPr id="20" name="Shape 15"/>
          <p:cNvSpPr/>
          <p:nvPr/>
        </p:nvSpPr>
        <p:spPr>
          <a:xfrm>
            <a:off x="6094476" y="3017520"/>
            <a:ext cx="0" cy="320040"/>
          </a:xfrm>
          <a:prstGeom prst="line">
            <a:avLst/>
          </a:prstGeom>
          <a:noFill/>
          <a:ln w="22225">
            <a:solidFill>
              <a:srgbClr val="5C6F64"/>
            </a:solidFill>
            <a:prstDash val="solid"/>
          </a:ln>
        </p:spPr>
      </p:sp>
      <p:sp>
        <p:nvSpPr>
          <p:cNvPr id="21" name="Shape 16"/>
          <p:cNvSpPr/>
          <p:nvPr/>
        </p:nvSpPr>
        <p:spPr>
          <a:xfrm>
            <a:off x="9857232" y="3017520"/>
            <a:ext cx="0" cy="320040"/>
          </a:xfrm>
          <a:prstGeom prst="line">
            <a:avLst/>
          </a:prstGeom>
          <a:noFill/>
          <a:ln w="22225">
            <a:solidFill>
              <a:srgbClr val="5C6F64"/>
            </a:solidFill>
            <a:prstDash val="solid"/>
          </a:ln>
        </p:spPr>
      </p:sp>
      <p:sp>
        <p:nvSpPr>
          <p:cNvPr id="22" name="Shape 17"/>
          <p:cNvSpPr/>
          <p:nvPr/>
        </p:nvSpPr>
        <p:spPr>
          <a:xfrm>
            <a:off x="2331720" y="3337560"/>
            <a:ext cx="7525512" cy="0"/>
          </a:xfrm>
          <a:prstGeom prst="line">
            <a:avLst/>
          </a:prstGeom>
          <a:noFill/>
          <a:ln w="22225">
            <a:solidFill>
              <a:srgbClr val="5C6F64"/>
            </a:solidFill>
            <a:prstDash val="solid"/>
          </a:ln>
        </p:spPr>
      </p:sp>
      <p:sp>
        <p:nvSpPr>
          <p:cNvPr id="23" name="Shape 18"/>
          <p:cNvSpPr/>
          <p:nvPr/>
        </p:nvSpPr>
        <p:spPr>
          <a:xfrm>
            <a:off x="6094476" y="3337560"/>
            <a:ext cx="0" cy="502920"/>
          </a:xfrm>
          <a:prstGeom prst="line">
            <a:avLst/>
          </a:prstGeom>
          <a:noFill/>
          <a:ln w="22225">
            <a:solidFill>
              <a:srgbClr val="5C6F64"/>
            </a:solidFill>
            <a:prstDash val="solid"/>
            <a:tailEnd type="triangle"/>
          </a:ln>
        </p:spPr>
      </p:sp>
      <p:sp>
        <p:nvSpPr>
          <p:cNvPr id="24" name="Shape 19"/>
          <p:cNvSpPr/>
          <p:nvPr/>
        </p:nvSpPr>
        <p:spPr>
          <a:xfrm>
            <a:off x="5454396" y="3840480"/>
            <a:ext cx="1280160" cy="1280160"/>
          </a:xfrm>
          <a:prstGeom prst="ellipse">
            <a:avLst/>
          </a:prstGeom>
          <a:solidFill>
            <a:srgbClr val="2F9E5D"/>
          </a:solidFill>
          <a:ln/>
        </p:spPr>
      </p:sp>
      <p:pic>
        <p:nvPicPr>
          <p:cNvPr id="25" name="Image 3" descr="/private/tmp/claude-501/-Users-mahekravinagdev-Documents-Waterside-Platform/d8a71d56-bafe-40f9-a96d-59ffcb0fd906/scratchpad/pptxbuild/icons/fusion.png">    </p:cNvPr>
          <p:cNvPicPr>
            <a:picLocks noChangeAspect="1"/>
          </p:cNvPicPr>
          <p:nvPr/>
        </p:nvPicPr>
        <p:blipFill>
          <a:blip r:embed="rId4"/>
          <a:stretch>
            <a:fillRect/>
          </a:stretch>
        </p:blipFill>
        <p:spPr>
          <a:xfrm>
            <a:off x="5761634" y="4147718"/>
            <a:ext cx="665683" cy="665683"/>
          </a:xfrm>
          <a:prstGeom prst="rect">
            <a:avLst/>
          </a:prstGeom>
        </p:spPr>
      </p:pic>
      <p:sp>
        <p:nvSpPr>
          <p:cNvPr id="26" name="Text 20"/>
          <p:cNvSpPr/>
          <p:nvPr/>
        </p:nvSpPr>
        <p:spPr>
          <a:xfrm>
            <a:off x="6871716" y="3840480"/>
            <a:ext cx="1828800" cy="1280160"/>
          </a:xfrm>
          <a:prstGeom prst="rect">
            <a:avLst/>
          </a:prstGeom>
          <a:noFill/>
          <a:ln/>
        </p:spPr>
        <p:txBody>
          <a:bodyPr wrap="square" lIns="0" tIns="0" rIns="0" bIns="0" rtlCol="0" anchor="ctr"/>
          <a:lstStyle/>
          <a:p>
            <a:pPr algn="l" indent="0" marL="0">
              <a:lnSpc>
                <a:spcPct val="110000"/>
              </a:lnSpc>
              <a:buNone/>
            </a:pPr>
            <a:r>
              <a:rPr lang="en-US" sz="1600" b="1" dirty="0">
                <a:solidFill>
                  <a:srgbClr val="142620"/>
                </a:solidFill>
                <a:latin typeface="Cambria" pitchFamily="34" charset="0"/>
                <a:ea typeface="Cambria" pitchFamily="34" charset="-122"/>
                <a:cs typeface="Cambria" pitchFamily="34" charset="-120"/>
              </a:rPr>
              <a:t>Fusion</a:t>
            </a:r>
            <a:endParaRPr lang="en-US" sz="1600" dirty="0"/>
          </a:p>
          <a:p>
            <a:pPr algn="l" indent="0" marL="0">
              <a:lnSpc>
                <a:spcPct val="110000"/>
              </a:lnSpc>
              <a:buNone/>
            </a:pPr>
            <a:r>
              <a:rPr lang="en-US" sz="1600" b="1" dirty="0">
                <a:solidFill>
                  <a:srgbClr val="142620"/>
                </a:solidFill>
                <a:latin typeface="Cambria" pitchFamily="34" charset="0"/>
                <a:ea typeface="Cambria" pitchFamily="34" charset="-122"/>
                <a:cs typeface="Cambria" pitchFamily="34" charset="-120"/>
              </a:rPr>
              <a:t>layer</a:t>
            </a:r>
            <a:endParaRPr lang="en-US" sz="1600" dirty="0"/>
          </a:p>
        </p:txBody>
      </p:sp>
      <p:sp>
        <p:nvSpPr>
          <p:cNvPr id="27" name="Shape 21"/>
          <p:cNvSpPr/>
          <p:nvPr/>
        </p:nvSpPr>
        <p:spPr>
          <a:xfrm>
            <a:off x="6094476" y="5120640"/>
            <a:ext cx="0" cy="320040"/>
          </a:xfrm>
          <a:prstGeom prst="line">
            <a:avLst/>
          </a:prstGeom>
          <a:noFill/>
          <a:ln w="22225">
            <a:solidFill>
              <a:srgbClr val="5C6F64"/>
            </a:solidFill>
            <a:prstDash val="solid"/>
            <a:tailEnd type="triangle"/>
          </a:ln>
        </p:spPr>
      </p:sp>
      <p:sp>
        <p:nvSpPr>
          <p:cNvPr id="28" name="Shape 22"/>
          <p:cNvSpPr/>
          <p:nvPr/>
        </p:nvSpPr>
        <p:spPr>
          <a:xfrm>
            <a:off x="3899916" y="5532120"/>
            <a:ext cx="4389120" cy="731520"/>
          </a:xfrm>
          <a:prstGeom prst="roundRect">
            <a:avLst>
              <a:gd name="adj" fmla="val 10000"/>
            </a:avLst>
          </a:prstGeom>
          <a:solidFill>
            <a:srgbClr val="1B4332"/>
          </a:solidFill>
          <a:ln/>
        </p:spPr>
      </p:sp>
      <p:sp>
        <p:nvSpPr>
          <p:cNvPr id="29" name="Text 23"/>
          <p:cNvSpPr/>
          <p:nvPr/>
        </p:nvSpPr>
        <p:spPr>
          <a:xfrm>
            <a:off x="4082796" y="5532120"/>
            <a:ext cx="4023360" cy="73152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Final severity + resource vector + summary</a:t>
            </a:r>
            <a:endParaRPr lang="en-US" sz="1300" dirty="0"/>
          </a:p>
        </p:txBody>
      </p:sp>
      <p:sp>
        <p:nvSpPr>
          <p:cNvPr id="30" name="Shape 24"/>
          <p:cNvSpPr/>
          <p:nvPr/>
        </p:nvSpPr>
        <p:spPr>
          <a:xfrm>
            <a:off x="731520" y="4160520"/>
            <a:ext cx="621792" cy="621792"/>
          </a:xfrm>
          <a:prstGeom prst="ellipse">
            <a:avLst/>
          </a:prstGeom>
          <a:solidFill>
            <a:srgbClr val="6B9080"/>
          </a:solidFill>
          <a:ln/>
        </p:spPr>
      </p:sp>
      <p:pic>
        <p:nvPicPr>
          <p:cNvPr id="31" name="Image 4" descr="/private/tmp/claude-501/-Users-mahekravinagdev-Documents-Waterside-Platform/d8a71d56-bafe-40f9-a96d-59ffcb0fd906/scratchpad/pptxbuild/icons/bolt.png">    </p:cNvPr>
          <p:cNvPicPr>
            <a:picLocks noChangeAspect="1"/>
          </p:cNvPicPr>
          <p:nvPr/>
        </p:nvPicPr>
        <p:blipFill>
          <a:blip r:embed="rId5"/>
          <a:stretch>
            <a:fillRect/>
          </a:stretch>
        </p:blipFill>
        <p:spPr>
          <a:xfrm>
            <a:off x="871423" y="4300423"/>
            <a:ext cx="341986" cy="341986"/>
          </a:xfrm>
          <a:prstGeom prst="rect">
            <a:avLst/>
          </a:prstGeom>
        </p:spPr>
      </p:pic>
      <p:sp>
        <p:nvSpPr>
          <p:cNvPr id="32" name="Text 25"/>
          <p:cNvSpPr/>
          <p:nvPr/>
        </p:nvSpPr>
        <p:spPr>
          <a:xfrm>
            <a:off x="1600200" y="3886200"/>
            <a:ext cx="3246120" cy="1280160"/>
          </a:xfrm>
          <a:prstGeom prst="rect">
            <a:avLst/>
          </a:prstGeom>
          <a:noFill/>
          <a:ln/>
        </p:spPr>
        <p:txBody>
          <a:bodyPr wrap="square" lIns="0" tIns="0" rIns="0" bIns="0" rtlCol="0" anchor="ctr"/>
          <a:lstStyle/>
          <a:p>
            <a:pPr indent="0" marL="0">
              <a:lnSpc>
                <a:spcPct val="115000"/>
              </a:lnSpc>
              <a:buNone/>
            </a:pPr>
            <a:r>
              <a:rPr lang="en-US" sz="1300" b="1" dirty="0">
                <a:solidFill>
                  <a:srgbClr val="142620"/>
                </a:solidFill>
                <a:latin typeface="Calibri" pitchFamily="34" charset="0"/>
                <a:ea typeface="Calibri" pitchFamily="34" charset="-122"/>
                <a:cs typeface="Calibri" pitchFamily="34" charset="-120"/>
              </a:rPr>
              <a:t>Conflict policy:  </a:t>
            </a:r>
            <a:pPr indent="0" marL="0">
              <a:lnSpc>
                <a:spcPct val="115000"/>
              </a:lnSpc>
              <a:buNone/>
            </a:pPr>
            <a:r>
              <a:rPr lang="en-US" sz="1300" dirty="0">
                <a:solidFill>
                  <a:srgbClr val="142620"/>
                </a:solidFill>
                <a:latin typeface="Calibri" pitchFamily="34" charset="0"/>
                <a:ea typeface="Calibri" pitchFamily="34" charset="-122"/>
                <a:cs typeface="Calibri" pitchFamily="34" charset="-120"/>
              </a:rPr>
              <a:t>when signals disagree, favor whichever indicates greater urgency.</a:t>
            </a:r>
            <a:endParaRPr lang="en-US" sz="1300" dirty="0"/>
          </a:p>
        </p:txBody>
      </p:sp>
      <p:sp>
        <p:nvSpPr>
          <p:cNvPr id="33" name="Text 26"/>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6 / 11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RESULTS: VISION</a:t>
            </a:r>
            <a:endParaRPr lang="en-US" sz="1300" dirty="0"/>
          </a:p>
        </p:txBody>
      </p:sp>
      <p:sp>
        <p:nvSpPr>
          <p:cNvPr id="3" name="Text 1"/>
          <p:cNvSpPr/>
          <p:nvPr/>
        </p:nvSpPr>
        <p:spPr>
          <a:xfrm>
            <a:off x="640080" y="685800"/>
            <a:ext cx="10972800" cy="822960"/>
          </a:xfrm>
          <a:prstGeom prst="rect">
            <a:avLst/>
          </a:prstGeom>
          <a:noFill/>
          <a:ln/>
        </p:spPr>
        <p:txBody>
          <a:bodyPr wrap="square" lIns="0" tIns="0" rIns="0" bIns="0" rtlCol="0" anchor="ctr"/>
          <a:lstStyle/>
          <a:p>
            <a:pPr indent="0" marL="0">
              <a:buNone/>
            </a:pPr>
            <a:r>
              <a:rPr lang="en-US" sz="2700" b="1" dirty="0">
                <a:solidFill>
                  <a:srgbClr val="142620"/>
                </a:solidFill>
                <a:latin typeface="Cambria" pitchFamily="34" charset="0"/>
                <a:ea typeface="Cambria" pitchFamily="34" charset="-122"/>
                <a:cs typeface="Cambria" pitchFamily="34" charset="-120"/>
              </a:rPr>
              <a:t>The severity classifier is highly reliable</a:t>
            </a:r>
            <a:endParaRPr lang="en-US" sz="2700" dirty="0"/>
          </a:p>
        </p:txBody>
      </p:sp>
      <p:pic>
        <p:nvPicPr>
          <p:cNvPr id="4" name="Image 0" descr="/Users/mahekravinagdev/Documents/ML Project /report_figures/vision_confusion_matrix.png">    </p:cNvPr>
          <p:cNvPicPr>
            <a:picLocks noChangeAspect="1"/>
          </p:cNvPicPr>
          <p:nvPr/>
        </p:nvPicPr>
        <p:blipFill>
          <a:blip r:embed="rId1"/>
          <a:stretch>
            <a:fillRect/>
          </a:stretch>
        </p:blipFill>
        <p:spPr>
          <a:xfrm>
            <a:off x="640080" y="1691640"/>
            <a:ext cx="4160520" cy="3520440"/>
          </a:xfrm>
          <a:prstGeom prst="rect">
            <a:avLst/>
          </a:prstGeom>
        </p:spPr>
      </p:pic>
      <p:sp>
        <p:nvSpPr>
          <p:cNvPr id="5" name="Text 2"/>
          <p:cNvSpPr/>
          <p:nvPr/>
        </p:nvSpPr>
        <p:spPr>
          <a:xfrm>
            <a:off x="5349240" y="1783080"/>
            <a:ext cx="2926080" cy="685800"/>
          </a:xfrm>
          <a:prstGeom prst="rect">
            <a:avLst/>
          </a:prstGeom>
          <a:noFill/>
          <a:ln/>
        </p:spPr>
        <p:txBody>
          <a:bodyPr wrap="square" lIns="0" tIns="0" rIns="0" bIns="0" rtlCol="0" anchor="ctr"/>
          <a:lstStyle/>
          <a:p>
            <a:pPr algn="l" indent="0" marL="0">
              <a:buNone/>
            </a:pPr>
            <a:r>
              <a:rPr lang="en-US" sz="4000" b="1" dirty="0">
                <a:solidFill>
                  <a:srgbClr val="2F9E5D"/>
                </a:solidFill>
                <a:latin typeface="Cambria" pitchFamily="34" charset="0"/>
                <a:ea typeface="Cambria" pitchFamily="34" charset="-122"/>
                <a:cs typeface="Cambria" pitchFamily="34" charset="-120"/>
              </a:rPr>
              <a:t>98.15%</a:t>
            </a:r>
            <a:endParaRPr lang="en-US" sz="4000" dirty="0"/>
          </a:p>
        </p:txBody>
      </p:sp>
      <p:sp>
        <p:nvSpPr>
          <p:cNvPr id="6" name="Text 3"/>
          <p:cNvSpPr/>
          <p:nvPr/>
        </p:nvSpPr>
        <p:spPr>
          <a:xfrm>
            <a:off x="5349240" y="2441448"/>
            <a:ext cx="29260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test accuracy, 647 held-out images</a:t>
            </a:r>
            <a:endParaRPr lang="en-US" sz="1250" dirty="0"/>
          </a:p>
        </p:txBody>
      </p:sp>
      <p:sp>
        <p:nvSpPr>
          <p:cNvPr id="7" name="Text 4"/>
          <p:cNvSpPr/>
          <p:nvPr/>
        </p:nvSpPr>
        <p:spPr>
          <a:xfrm>
            <a:off x="8549640" y="1783080"/>
            <a:ext cx="2926080" cy="685800"/>
          </a:xfrm>
          <a:prstGeom prst="rect">
            <a:avLst/>
          </a:prstGeom>
          <a:noFill/>
          <a:ln/>
        </p:spPr>
        <p:txBody>
          <a:bodyPr wrap="square" lIns="0" tIns="0" rIns="0" bIns="0" rtlCol="0" anchor="ctr"/>
          <a:lstStyle/>
          <a:p>
            <a:pPr algn="l" indent="0" marL="0">
              <a:buNone/>
            </a:pPr>
            <a:r>
              <a:rPr lang="en-US" sz="4000" b="1" dirty="0">
                <a:solidFill>
                  <a:srgbClr val="6B9080"/>
                </a:solidFill>
                <a:latin typeface="Cambria" pitchFamily="34" charset="0"/>
                <a:ea typeface="Cambria" pitchFamily="34" charset="-122"/>
                <a:cs typeface="Cambria" pitchFamily="34" charset="-120"/>
              </a:rPr>
              <a:t>0.969</a:t>
            </a:r>
            <a:endParaRPr lang="en-US" sz="4000" dirty="0"/>
          </a:p>
        </p:txBody>
      </p:sp>
      <p:sp>
        <p:nvSpPr>
          <p:cNvPr id="8" name="Text 5"/>
          <p:cNvSpPr/>
          <p:nvPr/>
        </p:nvSpPr>
        <p:spPr>
          <a:xfrm>
            <a:off x="8549640" y="2441448"/>
            <a:ext cx="29260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macro-F1 across 4 severity classes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49240" y="3063240"/>
          <a:ext cx="6126480" cy="1965960"/>
        </p:xfrm>
        <a:graphic>
          <a:graphicData uri="http://schemas.openxmlformats.org/drawingml/2006/table">
            <a:tbl>
              <a:tblPr/>
              <a:tblGrid>
                <a:gridCol w="1531620"/>
                <a:gridCol w="1531620"/>
                <a:gridCol w="1531620"/>
                <a:gridCol w="1531620"/>
              </a:tblGrid>
              <a:tr h="39319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F1</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r>
              <a:tr h="393192">
                <a:tc>
                  <a:txBody>
                    <a:bodyPr/>
                    <a:lstStyle/>
                    <a:p>
                      <a:pPr indent="0" marL="0">
                        <a:buNone/>
                      </a:pPr>
                      <a:r>
                        <a:rPr lang="en-US" sz="1250" dirty="0">
                          <a:solidFill>
                            <a:srgbClr val="142620"/>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0.993</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0.982</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0.987</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93192">
                <a:tc>
                  <a:txBody>
                    <a:bodyPr/>
                    <a:lstStyle/>
                    <a:p>
                      <a:pPr indent="0" marL="0">
                        <a:buNone/>
                      </a:pPr>
                      <a:r>
                        <a:rPr lang="en-US" sz="1250" dirty="0">
                          <a:solidFill>
                            <a:srgbClr val="142620"/>
                          </a:solidFill>
                          <a:latin typeface="Calibri" pitchFamily="34" charset="0"/>
                          <a:ea typeface="Calibri" pitchFamily="34" charset="-122"/>
                          <a:cs typeface="Calibri" pitchFamily="34" charset="-120"/>
                        </a:rPr>
                        <a:t>Mild</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0.922</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0.959</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0.940</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93192">
                <a:tc>
                  <a:txBody>
                    <a:bodyPr/>
                    <a:lstStyle/>
                    <a:p>
                      <a:pPr indent="0" marL="0">
                        <a:buNone/>
                      </a:pPr>
                      <a:r>
                        <a:rPr lang="en-US" sz="1250" dirty="0">
                          <a:solidFill>
                            <a:srgbClr val="142620"/>
                          </a:solidFill>
                          <a:latin typeface="Calibri" pitchFamily="34" charset="0"/>
                          <a:ea typeface="Calibri" pitchFamily="34" charset="-122"/>
                          <a:cs typeface="Calibri" pitchFamily="34" charset="-120"/>
                        </a:rPr>
                        <a:t>Moderate</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0.982</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0.991</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0.986</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93192">
                <a:tc>
                  <a:txBody>
                    <a:bodyPr/>
                    <a:lstStyle/>
                    <a:p>
                      <a:pPr indent="0" marL="0">
                        <a:buNone/>
                      </a:pPr>
                      <a:r>
                        <a:rPr lang="en-US" sz="1250" dirty="0">
                          <a:solidFill>
                            <a:srgbClr val="142620"/>
                          </a:solidFill>
                          <a:latin typeface="Calibri" pitchFamily="34" charset="0"/>
                          <a:ea typeface="Calibri" pitchFamily="34" charset="-122"/>
                          <a:cs typeface="Calibri" pitchFamily="34" charset="-120"/>
                        </a:rPr>
                        <a:t>Severe</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0.944</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0.981</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50" dirty="0">
                          <a:solidFill>
                            <a:srgbClr val="142620"/>
                          </a:solidFill>
                          <a:latin typeface="Calibri" pitchFamily="34" charset="0"/>
                          <a:ea typeface="Calibri" pitchFamily="34" charset="-122"/>
                          <a:cs typeface="Calibri" pitchFamily="34" charset="-120"/>
                        </a:rPr>
                        <a:t>0.962</a:t>
                      </a:r>
                      <a:endParaRPr lang="en-US" sz="125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bl>
          </a:graphicData>
        </a:graphic>
      </p:graphicFrame>
      <p:sp>
        <p:nvSpPr>
          <p:cNvPr id="10" name="Shape 6"/>
          <p:cNvSpPr/>
          <p:nvPr/>
        </p:nvSpPr>
        <p:spPr>
          <a:xfrm>
            <a:off x="5349240" y="5212080"/>
            <a:ext cx="6126480" cy="1051560"/>
          </a:xfrm>
          <a:prstGeom prst="roundRect">
            <a:avLst>
              <a:gd name="adj" fmla="val 6957"/>
            </a:avLst>
          </a:prstGeom>
          <a:solidFill>
            <a:srgbClr val="EFF5F1"/>
          </a:solidFill>
          <a:ln/>
        </p:spPr>
      </p:sp>
      <p:sp>
        <p:nvSpPr>
          <p:cNvPr id="11" name="Text 7"/>
          <p:cNvSpPr/>
          <p:nvPr/>
        </p:nvSpPr>
        <p:spPr>
          <a:xfrm>
            <a:off x="5577840" y="5212080"/>
            <a:ext cx="5669280" cy="1051560"/>
          </a:xfrm>
          <a:prstGeom prst="rect">
            <a:avLst/>
          </a:prstGeom>
          <a:noFill/>
          <a:ln/>
        </p:spPr>
        <p:txBody>
          <a:bodyPr wrap="square" lIns="0" tIns="0" rIns="0" bIns="0" rtlCol="0" anchor="ctr"/>
          <a:lstStyle/>
          <a:p>
            <a:pPr indent="0" marL="0">
              <a:lnSpc>
                <a:spcPct val="115000"/>
              </a:lnSpc>
              <a:buNone/>
            </a:pPr>
            <a:r>
              <a:rPr lang="en-US" sz="1300" i="1" dirty="0">
                <a:solidFill>
                  <a:srgbClr val="142620"/>
                </a:solidFill>
                <a:latin typeface="Calibri" pitchFamily="34" charset="0"/>
                <a:ea typeface="Calibri" pitchFamily="34" charset="-122"/>
                <a:cs typeface="Calibri" pitchFamily="34" charset="-120"/>
              </a:rPr>
              <a:t>Almost every confusion falls to a neighboring severity level, not a random error: the model's mistakes are the kind a human would also plausibly make.</a:t>
            </a:r>
            <a:endParaRPr lang="en-US" sz="1300" dirty="0"/>
          </a:p>
        </p:txBody>
      </p:sp>
      <p:sp>
        <p:nvSpPr>
          <p:cNvPr id="12" name="Text 8"/>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7 / 11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RESULTS: TEXT</a:t>
            </a:r>
            <a:endParaRPr lang="en-US" sz="1300" dirty="0"/>
          </a:p>
        </p:txBody>
      </p:sp>
      <p:sp>
        <p:nvSpPr>
          <p:cNvPr id="3" name="Text 1"/>
          <p:cNvSpPr/>
          <p:nvPr/>
        </p:nvSpPr>
        <p:spPr>
          <a:xfrm>
            <a:off x="640080" y="685800"/>
            <a:ext cx="11247120" cy="822960"/>
          </a:xfrm>
          <a:prstGeom prst="rect">
            <a:avLst/>
          </a:prstGeom>
          <a:noFill/>
          <a:ln/>
        </p:spPr>
        <p:txBody>
          <a:bodyPr wrap="square" lIns="0" tIns="0" rIns="0" bIns="0" rtlCol="0" anchor="ctr"/>
          <a:lstStyle/>
          <a:p>
            <a:pPr indent="0" marL="0">
              <a:buNone/>
            </a:pPr>
            <a:r>
              <a:rPr lang="en-US" sz="2500" b="1" dirty="0">
                <a:solidFill>
                  <a:srgbClr val="142620"/>
                </a:solidFill>
                <a:latin typeface="Cambria" pitchFamily="34" charset="0"/>
                <a:ea typeface="Cambria" pitchFamily="34" charset="-122"/>
                <a:cs typeface="Cambria" pitchFamily="34" charset="-120"/>
              </a:rPr>
              <a:t>An honest negative result, and why we kept two signals</a:t>
            </a:r>
            <a:endParaRPr lang="en-US" sz="2500" dirty="0"/>
          </a:p>
        </p:txBody>
      </p:sp>
      <p:sp>
        <p:nvSpPr>
          <p:cNvPr id="4" name="Text 2"/>
          <p:cNvSpPr/>
          <p:nvPr/>
        </p:nvSpPr>
        <p:spPr>
          <a:xfrm>
            <a:off x="640080" y="1737360"/>
            <a:ext cx="2743200" cy="685800"/>
          </a:xfrm>
          <a:prstGeom prst="rect">
            <a:avLst/>
          </a:prstGeom>
          <a:noFill/>
          <a:ln/>
        </p:spPr>
        <p:txBody>
          <a:bodyPr wrap="square" lIns="0" tIns="0" rIns="0" bIns="0" rtlCol="0" anchor="ctr"/>
          <a:lstStyle/>
          <a:p>
            <a:pPr algn="l" indent="0" marL="0">
              <a:buNone/>
            </a:pPr>
            <a:r>
              <a:rPr lang="en-US" sz="3800" b="1" dirty="0">
                <a:solidFill>
                  <a:srgbClr val="2F9E5D"/>
                </a:solidFill>
                <a:latin typeface="Cambria" pitchFamily="34" charset="0"/>
                <a:ea typeface="Cambria" pitchFamily="34" charset="-122"/>
                <a:cs typeface="Cambria" pitchFamily="34" charset="-120"/>
              </a:rPr>
              <a:t>52.74%</a:t>
            </a:r>
            <a:endParaRPr lang="en-US" sz="3800" dirty="0"/>
          </a:p>
        </p:txBody>
      </p:sp>
      <p:sp>
        <p:nvSpPr>
          <p:cNvPr id="5" name="Text 3"/>
          <p:cNvSpPr/>
          <p:nvPr/>
        </p:nvSpPr>
        <p:spPr>
          <a:xfrm>
            <a:off x="640080" y="2395728"/>
            <a:ext cx="274320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RoBERTa test accuracy</a:t>
            </a:r>
            <a:endParaRPr lang="en-US" sz="1250" dirty="0"/>
          </a:p>
        </p:txBody>
      </p:sp>
      <p:sp>
        <p:nvSpPr>
          <p:cNvPr id="6" name="Text 4"/>
          <p:cNvSpPr/>
          <p:nvPr/>
        </p:nvSpPr>
        <p:spPr>
          <a:xfrm>
            <a:off x="3520440" y="1737360"/>
            <a:ext cx="2743200" cy="685800"/>
          </a:xfrm>
          <a:prstGeom prst="rect">
            <a:avLst/>
          </a:prstGeom>
          <a:noFill/>
          <a:ln/>
        </p:spPr>
        <p:txBody>
          <a:bodyPr wrap="square" lIns="0" tIns="0" rIns="0" bIns="0" rtlCol="0" anchor="ctr"/>
          <a:lstStyle/>
          <a:p>
            <a:pPr algn="l" indent="0" marL="0">
              <a:buNone/>
            </a:pPr>
            <a:r>
              <a:rPr lang="en-US" sz="3800" b="1" dirty="0">
                <a:solidFill>
                  <a:srgbClr val="2F9E5D"/>
                </a:solidFill>
                <a:latin typeface="Cambria" pitchFamily="34" charset="0"/>
                <a:ea typeface="Cambria" pitchFamily="34" charset="-122"/>
                <a:cs typeface="Cambria" pitchFamily="34" charset="-120"/>
              </a:rPr>
              <a:t>0.275</a:t>
            </a:r>
            <a:endParaRPr lang="en-US" sz="3800" dirty="0"/>
          </a:p>
        </p:txBody>
      </p:sp>
      <p:sp>
        <p:nvSpPr>
          <p:cNvPr id="7" name="Text 5"/>
          <p:cNvSpPr/>
          <p:nvPr/>
        </p:nvSpPr>
        <p:spPr>
          <a:xfrm>
            <a:off x="3520440" y="2395728"/>
            <a:ext cx="274320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macro-F1, 8 categories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926080"/>
          <a:ext cx="5623560" cy="1920240"/>
        </p:xfrm>
        <a:graphic>
          <a:graphicData uri="http://schemas.openxmlformats.org/drawingml/2006/table">
            <a:tbl>
              <a:tblPr/>
              <a:tblGrid>
                <a:gridCol w="1874520"/>
                <a:gridCol w="1874520"/>
                <a:gridCol w="18745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solidFill>
                      <a:srgbClr val="1B4332"/>
                    </a:solidFill>
                  </a:tcPr>
                </a:tc>
              </a:tr>
              <a:tr h="384048">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Food</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00" dirty="0">
                          <a:solidFill>
                            <a:srgbClr val="142620"/>
                          </a:solidFill>
                          <a:latin typeface="Calibri" pitchFamily="34" charset="0"/>
                          <a:ea typeface="Calibri" pitchFamily="34" charset="-122"/>
                          <a:cs typeface="Calibri" pitchFamily="34" charset="-120"/>
                        </a:rPr>
                        <a:t>0.587</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shares source category with water</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84048">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Water</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00" dirty="0">
                          <a:solidFill>
                            <a:srgbClr val="142620"/>
                          </a:solidFill>
                          <a:latin typeface="Calibri" pitchFamily="34" charset="0"/>
                          <a:ea typeface="Calibri" pitchFamily="34" charset="-122"/>
                          <a:cs typeface="Calibri" pitchFamily="34" charset="-120"/>
                        </a:rPr>
                        <a:t>0.587</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shares source category with food</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84048">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Medical</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00" dirty="0">
                          <a:solidFill>
                            <a:srgbClr val="142620"/>
                          </a:solidFill>
                          <a:latin typeface="Calibri" pitchFamily="34" charset="0"/>
                          <a:ea typeface="Calibri" pitchFamily="34" charset="-122"/>
                          <a:cs typeface="Calibri" pitchFamily="34" charset="-120"/>
                        </a:rPr>
                        <a:t>0.414</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indent="0" marL="0">
                        <a:buNone/>
                      </a:pP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r h="384048">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Shelter</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algn="ctr" indent="0" marL="0">
                        <a:buNone/>
                      </a:pPr>
                      <a:r>
                        <a:rPr lang="en-US" sz="1200" dirty="0">
                          <a:solidFill>
                            <a:srgbClr val="142620"/>
                          </a:solidFill>
                          <a:latin typeface="Calibri" pitchFamily="34" charset="0"/>
                          <a:ea typeface="Calibri" pitchFamily="34" charset="-122"/>
                          <a:cs typeface="Calibri" pitchFamily="34" charset="-120"/>
                        </a:rPr>
                        <a:t>0.021</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c>
                  <a:txBody>
                    <a:bodyPr/>
                    <a:lstStyle/>
                    <a:p>
                      <a:pPr indent="0" marL="0">
                        <a:buNone/>
                      </a:pPr>
                      <a:r>
                        <a:rPr lang="en-US" sz="1200" dirty="0">
                          <a:solidFill>
                            <a:srgbClr val="142620"/>
                          </a:solidFill>
                          <a:latin typeface="Calibri" pitchFamily="34" charset="0"/>
                          <a:ea typeface="Calibri" pitchFamily="34" charset="-122"/>
                          <a:cs typeface="Calibri" pitchFamily="34" charset="-120"/>
                        </a:rPr>
                        <a:t>P = 1.00, R = 0.01: almost never predicted</a:t>
                      </a:r>
                      <a:endParaRPr lang="en-US" sz="1200" dirty="0">
                        <a:latin typeface="Calibri" charset="0"/>
                        <a:ea typeface="Calibri" charset="0"/>
                        <a:cs typeface="Calibri" charset="0"/>
                      </a:endParaRPr>
                    </a:p>
                  </a:txBody>
                  <a:tcPr marL="91440" marR="91440" marT="45720" marB="45720">
                    <a:lnL w="9525" cap="flat" cmpd="sng" algn="ctr">
                      <a:solidFill>
                        <a:srgbClr val="DCE1EE"/>
                      </a:solidFill>
                      <a:prstDash val="solid"/>
                      <a:round/>
                      <a:headEnd type="none" w="med" len="med"/>
                      <a:tailEnd type="none" w="med" len="med"/>
                    </a:lnL>
                    <a:lnR w="9525" cap="flat" cmpd="sng" algn="ctr">
                      <a:solidFill>
                        <a:srgbClr val="DCE1EE"/>
                      </a:solidFill>
                      <a:prstDash val="solid"/>
                      <a:round/>
                      <a:headEnd type="none" w="med" len="med"/>
                      <a:tailEnd type="none" w="med" len="med"/>
                    </a:lnR>
                    <a:lnT w="9525" cap="flat" cmpd="sng" algn="ctr">
                      <a:solidFill>
                        <a:srgbClr val="DCE1EE"/>
                      </a:solidFill>
                      <a:prstDash val="solid"/>
                      <a:round/>
                      <a:headEnd type="none" w="med" len="med"/>
                      <a:tailEnd type="none" w="med" len="med"/>
                    </a:lnT>
                    <a:lnB w="9525" cap="flat" cmpd="sng" algn="ctr">
                      <a:solidFill>
                        <a:srgbClr val="DCE1EE"/>
                      </a:solidFill>
                      <a:prstDash val="solid"/>
                      <a:round/>
                      <a:headEnd type="none" w="med" len="med"/>
                      <a:tailEnd type="none" w="med" len="med"/>
                    </a:lnB>
                  </a:tcPr>
                </a:tc>
              </a:tr>
            </a:tbl>
          </a:graphicData>
        </a:graphic>
      </p:graphicFrame>
      <p:sp>
        <p:nvSpPr>
          <p:cNvPr id="9" name="Shape 6"/>
          <p:cNvSpPr/>
          <p:nvPr/>
        </p:nvSpPr>
        <p:spPr>
          <a:xfrm>
            <a:off x="6583680" y="1737360"/>
            <a:ext cx="4983480" cy="3337560"/>
          </a:xfrm>
          <a:prstGeom prst="roundRect">
            <a:avLst>
              <a:gd name="adj" fmla="val 2466"/>
            </a:avLst>
          </a:prstGeom>
          <a:solidFill>
            <a:srgbClr val="EFF5F1"/>
          </a:solidFill>
          <a:ln/>
          <a:effectLst>
            <a:outerShdw sx="100000" sy="100000" kx="0" ky="0" algn="bl" rotWithShape="0" blurRad="76200" dist="38100" dir="5400000">
              <a:srgbClr val="0A0E27">
                <a:alpha val="25000"/>
              </a:srgbClr>
            </a:outerShdw>
          </a:effectLst>
        </p:spPr>
      </p:sp>
      <p:sp>
        <p:nvSpPr>
          <p:cNvPr id="10" name="Shape 7"/>
          <p:cNvSpPr/>
          <p:nvPr/>
        </p:nvSpPr>
        <p:spPr>
          <a:xfrm>
            <a:off x="6858000" y="2011680"/>
            <a:ext cx="640080" cy="640080"/>
          </a:xfrm>
          <a:prstGeom prst="ellipse">
            <a:avLst/>
          </a:prstGeom>
          <a:solidFill>
            <a:srgbClr val="6B9080"/>
          </a:solidFill>
          <a:ln/>
        </p:spPr>
      </p:sp>
      <p:pic>
        <p:nvPicPr>
          <p:cNvPr id="11" name="Image 0" descr="/private/tmp/claude-501/-Users-mahekravinagdev-Documents-Waterside-Platform/d8a71d56-bafe-40f9-a96d-59ffcb0fd906/scratchpad/pptxbuild/icons/alert.png">    </p:cNvPr>
          <p:cNvPicPr>
            <a:picLocks noChangeAspect="1"/>
          </p:cNvPicPr>
          <p:nvPr/>
        </p:nvPicPr>
        <p:blipFill>
          <a:blip r:embed="rId1"/>
          <a:stretch>
            <a:fillRect/>
          </a:stretch>
        </p:blipFill>
        <p:spPr>
          <a:xfrm>
            <a:off x="7002018" y="2155698"/>
            <a:ext cx="352044" cy="352044"/>
          </a:xfrm>
          <a:prstGeom prst="rect">
            <a:avLst/>
          </a:prstGeom>
        </p:spPr>
      </p:pic>
      <p:sp>
        <p:nvSpPr>
          <p:cNvPr id="12" name="Text 8"/>
          <p:cNvSpPr/>
          <p:nvPr/>
        </p:nvSpPr>
        <p:spPr>
          <a:xfrm>
            <a:off x="7635240" y="2084832"/>
            <a:ext cx="3749040" cy="457200"/>
          </a:xfrm>
          <a:prstGeom prst="rect">
            <a:avLst/>
          </a:prstGeom>
          <a:noFill/>
          <a:ln/>
        </p:spPr>
        <p:txBody>
          <a:bodyPr wrap="square" lIns="0" tIns="0" rIns="0" bIns="0" rtlCol="0" anchor="ctr"/>
          <a:lstStyle/>
          <a:p>
            <a:pPr indent="0" marL="0">
              <a:buNone/>
            </a:pPr>
            <a:r>
              <a:rPr lang="en-US" sz="1700" b="1" dirty="0">
                <a:solidFill>
                  <a:srgbClr val="142620"/>
                </a:solidFill>
                <a:latin typeface="Cambria" pitchFamily="34" charset="0"/>
                <a:ea typeface="Cambria" pitchFamily="34" charset="-122"/>
                <a:cs typeface="Cambria" pitchFamily="34" charset="-120"/>
              </a:rPr>
              <a:t>Why it's not fatal</a:t>
            </a:r>
            <a:endParaRPr lang="en-US" sz="1700" dirty="0"/>
          </a:p>
        </p:txBody>
      </p:sp>
      <p:sp>
        <p:nvSpPr>
          <p:cNvPr id="13" name="Text 9"/>
          <p:cNvSpPr/>
          <p:nvPr/>
        </p:nvSpPr>
        <p:spPr>
          <a:xfrm>
            <a:off x="6858000" y="2743200"/>
            <a:ext cx="4434840" cy="2240280"/>
          </a:xfrm>
          <a:prstGeom prst="rect">
            <a:avLst/>
          </a:prstGeom>
          <a:noFill/>
          <a:ln/>
        </p:spPr>
        <p:txBody>
          <a:bodyPr wrap="square" lIns="0" tIns="0" rIns="0" bIns="0" rtlCol="0" anchor="ctr"/>
          <a:lstStyle/>
          <a:p>
            <a:pPr indent="0" marL="0">
              <a:lnSpc>
                <a:spcPct val="120000"/>
              </a:lnSpc>
              <a:buNone/>
            </a:pPr>
            <a:r>
              <a:rPr lang="en-US" sz="1350" dirty="0">
                <a:solidFill>
                  <a:srgbClr val="142620"/>
                </a:solidFill>
                <a:latin typeface="Calibri" pitchFamily="34" charset="0"/>
                <a:ea typeface="Calibri" pitchFamily="34" charset="-122"/>
                <a:cs typeface="Calibri" pitchFamily="34" charset="-120"/>
              </a:rPr>
              <a:t>CrisisMMD's category labels don't map cleanly onto our four resource needs, a genuine taxonomy mismatch, not a bug.</a:t>
            </a:r>
            <a:endParaRPr lang="en-US" sz="1350" dirty="0"/>
          </a:p>
          <a:p>
            <a:pPr indent="0" marL="0">
              <a:lnSpc>
                <a:spcPct val="120000"/>
              </a:lnSpc>
              <a:buNone/>
            </a:pPr>
            <a:endParaRPr lang="en-US" sz="1350" dirty="0"/>
          </a:p>
          <a:p>
            <a:pPr indent="0" marL="0">
              <a:lnSpc>
                <a:spcPct val="120000"/>
              </a:lnSpc>
              <a:buNone/>
            </a:pPr>
            <a:r>
              <a:rPr lang="en-US" sz="1350" dirty="0">
                <a:solidFill>
                  <a:srgbClr val="142620"/>
                </a:solidFill>
                <a:latin typeface="Calibri" pitchFamily="34" charset="0"/>
                <a:ea typeface="Calibri" pitchFamily="34" charset="-122"/>
                <a:cs typeface="Calibri" pitchFamily="34" charset="-120"/>
              </a:rPr>
              <a:t>On a report explicitly asking for food, RoBERTa missed it entirely, while our LLM-based extractor caught it correctly. That's exactly why the pipeline keeps a second, independent text signal instead of relying on RoBERTa alone.</a:t>
            </a:r>
            <a:endParaRPr lang="en-US" sz="1350" dirty="0"/>
          </a:p>
        </p:txBody>
      </p:sp>
      <p:sp>
        <p:nvSpPr>
          <p:cNvPr id="14" name="Text 10"/>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8 / 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RESULTS: HUMAN AGREEMENT</a:t>
            </a:r>
            <a:endParaRPr lang="en-US" sz="1300" dirty="0"/>
          </a:p>
        </p:txBody>
      </p:sp>
      <p:sp>
        <p:nvSpPr>
          <p:cNvPr id="3" name="Text 1"/>
          <p:cNvSpPr/>
          <p:nvPr/>
        </p:nvSpPr>
        <p:spPr>
          <a:xfrm>
            <a:off x="640080" y="685800"/>
            <a:ext cx="11155680" cy="822960"/>
          </a:xfrm>
          <a:prstGeom prst="rect">
            <a:avLst/>
          </a:prstGeom>
          <a:noFill/>
          <a:ln/>
        </p:spPr>
        <p:txBody>
          <a:bodyPr wrap="square" lIns="0" tIns="0" rIns="0" bIns="0" rtlCol="0" anchor="ctr"/>
          <a:lstStyle/>
          <a:p>
            <a:pPr indent="0" marL="0">
              <a:buNone/>
            </a:pPr>
            <a:r>
              <a:rPr lang="en-US" sz="2600" b="1" dirty="0">
                <a:solidFill>
                  <a:srgbClr val="142620"/>
                </a:solidFill>
                <a:latin typeface="Cambria" pitchFamily="34" charset="0"/>
                <a:ea typeface="Cambria" pitchFamily="34" charset="-122"/>
                <a:cs typeface="Cambria" pitchFamily="34" charset="-120"/>
              </a:rPr>
              <a:t>Urgency isn't labeled, so we measured it directly</a:t>
            </a:r>
            <a:endParaRPr lang="en-US" sz="2600" dirty="0"/>
          </a:p>
        </p:txBody>
      </p:sp>
      <p:sp>
        <p:nvSpPr>
          <p:cNvPr id="4" name="Shape 2"/>
          <p:cNvSpPr/>
          <p:nvPr/>
        </p:nvSpPr>
        <p:spPr>
          <a:xfrm>
            <a:off x="822960" y="1691640"/>
            <a:ext cx="548640" cy="548640"/>
          </a:xfrm>
          <a:prstGeom prst="ellipse">
            <a:avLst/>
          </a:prstGeom>
          <a:solidFill>
            <a:srgbClr val="1B4332"/>
          </a:solidFill>
          <a:ln/>
        </p:spPr>
      </p:sp>
      <p:pic>
        <p:nvPicPr>
          <p:cNvPr id="5" name="Image 0" descr="/private/tmp/claude-501/-Users-mahekravinagdev-Documents-Waterside-Platform/d8a71d56-bafe-40f9-a96d-59ffcb0fd906/scratchpad/pptxbuild/icons/users.png">    </p:cNvPr>
          <p:cNvPicPr>
            <a:picLocks noChangeAspect="1"/>
          </p:cNvPicPr>
          <p:nvPr/>
        </p:nvPicPr>
        <p:blipFill>
          <a:blip r:embed="rId1"/>
          <a:stretch>
            <a:fillRect/>
          </a:stretch>
        </p:blipFill>
        <p:spPr>
          <a:xfrm>
            <a:off x="946404" y="1815084"/>
            <a:ext cx="301752" cy="301752"/>
          </a:xfrm>
          <a:prstGeom prst="rect">
            <a:avLst/>
          </a:prstGeom>
        </p:spPr>
      </p:pic>
      <p:sp>
        <p:nvSpPr>
          <p:cNvPr id="6" name="Text 3"/>
          <p:cNvSpPr/>
          <p:nvPr/>
        </p:nvSpPr>
        <p:spPr>
          <a:xfrm>
            <a:off x="1600200" y="1737360"/>
            <a:ext cx="5943600" cy="502920"/>
          </a:xfrm>
          <a:prstGeom prst="rect">
            <a:avLst/>
          </a:prstGeom>
          <a:noFill/>
          <a:ln/>
        </p:spPr>
        <p:txBody>
          <a:bodyPr wrap="square" lIns="0" tIns="0" rIns="0" bIns="0" rtlCol="0" anchor="ctr"/>
          <a:lstStyle/>
          <a:p>
            <a:pPr indent="0" marL="0">
              <a:buNone/>
            </a:pPr>
            <a:r>
              <a:rPr lang="en-US" sz="1500" b="1" dirty="0">
                <a:solidFill>
                  <a:srgbClr val="142620"/>
                </a:solidFill>
                <a:latin typeface="Calibri" pitchFamily="34" charset="0"/>
                <a:ea typeface="Calibri" pitchFamily="34" charset="-122"/>
                <a:cs typeface="Calibri" pitchFamily="34" charset="-120"/>
              </a:rPr>
              <a:t>Human – human (39-tweet sample, blind, independent)</a:t>
            </a:r>
            <a:endParaRPr lang="en-US" sz="1500" dirty="0"/>
          </a:p>
        </p:txBody>
      </p:sp>
      <p:sp>
        <p:nvSpPr>
          <p:cNvPr id="7" name="Text 4"/>
          <p:cNvSpPr/>
          <p:nvPr/>
        </p:nvSpPr>
        <p:spPr>
          <a:xfrm>
            <a:off x="1600200" y="2331720"/>
            <a:ext cx="2468880" cy="685800"/>
          </a:xfrm>
          <a:prstGeom prst="rect">
            <a:avLst/>
          </a:prstGeom>
          <a:noFill/>
          <a:ln/>
        </p:spPr>
        <p:txBody>
          <a:bodyPr wrap="square" lIns="0" tIns="0" rIns="0" bIns="0" rtlCol="0" anchor="ctr"/>
          <a:lstStyle/>
          <a:p>
            <a:pPr algn="l" indent="0" marL="0">
              <a:buNone/>
            </a:pPr>
            <a:r>
              <a:rPr lang="en-US" sz="3400" b="1" dirty="0">
                <a:solidFill>
                  <a:srgbClr val="2F9E5D"/>
                </a:solidFill>
                <a:latin typeface="Cambria" pitchFamily="34" charset="0"/>
                <a:ea typeface="Cambria" pitchFamily="34" charset="-122"/>
                <a:cs typeface="Cambria" pitchFamily="34" charset="-120"/>
              </a:rPr>
              <a:t>92.31%</a:t>
            </a:r>
            <a:endParaRPr lang="en-US" sz="3400" dirty="0"/>
          </a:p>
        </p:txBody>
      </p:sp>
      <p:sp>
        <p:nvSpPr>
          <p:cNvPr id="8" name="Text 5"/>
          <p:cNvSpPr/>
          <p:nvPr/>
        </p:nvSpPr>
        <p:spPr>
          <a:xfrm>
            <a:off x="1600200" y="2990088"/>
            <a:ext cx="24688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exact agreement</a:t>
            </a:r>
            <a:endParaRPr lang="en-US" sz="1250" dirty="0"/>
          </a:p>
        </p:txBody>
      </p:sp>
      <p:sp>
        <p:nvSpPr>
          <p:cNvPr id="9" name="Text 6"/>
          <p:cNvSpPr/>
          <p:nvPr/>
        </p:nvSpPr>
        <p:spPr>
          <a:xfrm>
            <a:off x="4160520" y="2331720"/>
            <a:ext cx="2468880" cy="685800"/>
          </a:xfrm>
          <a:prstGeom prst="rect">
            <a:avLst/>
          </a:prstGeom>
          <a:noFill/>
          <a:ln/>
        </p:spPr>
        <p:txBody>
          <a:bodyPr wrap="square" lIns="0" tIns="0" rIns="0" bIns="0" rtlCol="0" anchor="ctr"/>
          <a:lstStyle/>
          <a:p>
            <a:pPr algn="l" indent="0" marL="0">
              <a:buNone/>
            </a:pPr>
            <a:r>
              <a:rPr lang="en-US" sz="3400" b="1" dirty="0">
                <a:solidFill>
                  <a:srgbClr val="2F9E5D"/>
                </a:solidFill>
                <a:latin typeface="Cambria" pitchFamily="34" charset="0"/>
                <a:ea typeface="Cambria" pitchFamily="34" charset="-122"/>
                <a:cs typeface="Cambria" pitchFamily="34" charset="-120"/>
              </a:rPr>
              <a:t>κ = 0.881</a:t>
            </a:r>
            <a:endParaRPr lang="en-US" sz="3400" dirty="0"/>
          </a:p>
        </p:txBody>
      </p:sp>
      <p:sp>
        <p:nvSpPr>
          <p:cNvPr id="10" name="Text 7"/>
          <p:cNvSpPr/>
          <p:nvPr/>
        </p:nvSpPr>
        <p:spPr>
          <a:xfrm>
            <a:off x="4160520" y="2990088"/>
            <a:ext cx="24688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linear-weighted kappa</a:t>
            </a:r>
            <a:endParaRPr lang="en-US" sz="1250" dirty="0"/>
          </a:p>
        </p:txBody>
      </p:sp>
      <p:sp>
        <p:nvSpPr>
          <p:cNvPr id="11" name="Shape 8"/>
          <p:cNvSpPr/>
          <p:nvPr/>
        </p:nvSpPr>
        <p:spPr>
          <a:xfrm>
            <a:off x="822960" y="3794760"/>
            <a:ext cx="10515600" cy="0"/>
          </a:xfrm>
          <a:prstGeom prst="line">
            <a:avLst/>
          </a:prstGeom>
          <a:noFill/>
          <a:ln w="12700">
            <a:solidFill>
              <a:srgbClr val="DCE1EE"/>
            </a:solidFill>
            <a:prstDash val="solid"/>
          </a:ln>
        </p:spPr>
      </p:sp>
      <p:sp>
        <p:nvSpPr>
          <p:cNvPr id="12" name="Shape 9"/>
          <p:cNvSpPr/>
          <p:nvPr/>
        </p:nvSpPr>
        <p:spPr>
          <a:xfrm>
            <a:off x="822960" y="4023360"/>
            <a:ext cx="548640" cy="548640"/>
          </a:xfrm>
          <a:prstGeom prst="ellipse">
            <a:avLst/>
          </a:prstGeom>
          <a:solidFill>
            <a:srgbClr val="6B9080"/>
          </a:solidFill>
          <a:ln/>
        </p:spPr>
      </p:sp>
      <p:pic>
        <p:nvPicPr>
          <p:cNvPr id="13" name="Image 1" descr="/private/tmp/claude-501/-Users-mahekravinagdev-Documents-Waterside-Platform/d8a71d56-bafe-40f9-a96d-59ffcb0fd906/scratchpad/pptxbuild/icons/random.png">    </p:cNvPr>
          <p:cNvPicPr>
            <a:picLocks noChangeAspect="1"/>
          </p:cNvPicPr>
          <p:nvPr/>
        </p:nvPicPr>
        <p:blipFill>
          <a:blip r:embed="rId2"/>
          <a:stretch>
            <a:fillRect/>
          </a:stretch>
        </p:blipFill>
        <p:spPr>
          <a:xfrm>
            <a:off x="946404" y="4146804"/>
            <a:ext cx="301752" cy="301752"/>
          </a:xfrm>
          <a:prstGeom prst="rect">
            <a:avLst/>
          </a:prstGeom>
        </p:spPr>
      </p:pic>
      <p:sp>
        <p:nvSpPr>
          <p:cNvPr id="14" name="Text 10"/>
          <p:cNvSpPr/>
          <p:nvPr/>
        </p:nvSpPr>
        <p:spPr>
          <a:xfrm>
            <a:off x="1600200" y="4069080"/>
            <a:ext cx="5943600" cy="502920"/>
          </a:xfrm>
          <a:prstGeom prst="rect">
            <a:avLst/>
          </a:prstGeom>
          <a:noFill/>
          <a:ln/>
        </p:spPr>
        <p:txBody>
          <a:bodyPr wrap="square" lIns="0" tIns="0" rIns="0" bIns="0" rtlCol="0" anchor="ctr"/>
          <a:lstStyle/>
          <a:p>
            <a:pPr indent="0" marL="0">
              <a:buNone/>
            </a:pPr>
            <a:r>
              <a:rPr lang="en-US" sz="1500" b="1" dirty="0">
                <a:solidFill>
                  <a:srgbClr val="142620"/>
                </a:solidFill>
                <a:latin typeface="Calibri" pitchFamily="34" charset="0"/>
                <a:ea typeface="Calibri" pitchFamily="34" charset="-122"/>
                <a:cs typeface="Calibri" pitchFamily="34" charset="-120"/>
              </a:rPr>
              <a:t>Deterministic proxy rubric vs. each human rater</a:t>
            </a:r>
            <a:endParaRPr lang="en-US" sz="1500" dirty="0"/>
          </a:p>
        </p:txBody>
      </p:sp>
      <p:sp>
        <p:nvSpPr>
          <p:cNvPr id="15" name="Text 11"/>
          <p:cNvSpPr/>
          <p:nvPr/>
        </p:nvSpPr>
        <p:spPr>
          <a:xfrm>
            <a:off x="1600200" y="4663440"/>
            <a:ext cx="2468880" cy="685800"/>
          </a:xfrm>
          <a:prstGeom prst="rect">
            <a:avLst/>
          </a:prstGeom>
          <a:noFill/>
          <a:ln/>
        </p:spPr>
        <p:txBody>
          <a:bodyPr wrap="square" lIns="0" tIns="0" rIns="0" bIns="0" rtlCol="0" anchor="ctr"/>
          <a:lstStyle/>
          <a:p>
            <a:pPr algn="l" indent="0" marL="0">
              <a:buNone/>
            </a:pPr>
            <a:r>
              <a:rPr lang="en-US" sz="3400" b="1" dirty="0">
                <a:solidFill>
                  <a:srgbClr val="6B9080"/>
                </a:solidFill>
                <a:latin typeface="Cambria" pitchFamily="34" charset="0"/>
                <a:ea typeface="Cambria" pitchFamily="34" charset="-122"/>
                <a:cs typeface="Cambria" pitchFamily="34" charset="-120"/>
              </a:rPr>
              <a:t>58.97%</a:t>
            </a:r>
            <a:endParaRPr lang="en-US" sz="3400" dirty="0"/>
          </a:p>
        </p:txBody>
      </p:sp>
      <p:sp>
        <p:nvSpPr>
          <p:cNvPr id="16" name="Text 12"/>
          <p:cNvSpPr/>
          <p:nvPr/>
        </p:nvSpPr>
        <p:spPr>
          <a:xfrm>
            <a:off x="1600200" y="5321808"/>
            <a:ext cx="24688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vs. rater 1 (exact match)</a:t>
            </a:r>
            <a:endParaRPr lang="en-US" sz="1250" dirty="0"/>
          </a:p>
        </p:txBody>
      </p:sp>
      <p:sp>
        <p:nvSpPr>
          <p:cNvPr id="17" name="Text 13"/>
          <p:cNvSpPr/>
          <p:nvPr/>
        </p:nvSpPr>
        <p:spPr>
          <a:xfrm>
            <a:off x="4160520" y="4663440"/>
            <a:ext cx="2468880" cy="685800"/>
          </a:xfrm>
          <a:prstGeom prst="rect">
            <a:avLst/>
          </a:prstGeom>
          <a:noFill/>
          <a:ln/>
        </p:spPr>
        <p:txBody>
          <a:bodyPr wrap="square" lIns="0" tIns="0" rIns="0" bIns="0" rtlCol="0" anchor="ctr"/>
          <a:lstStyle/>
          <a:p>
            <a:pPr algn="l" indent="0" marL="0">
              <a:buNone/>
            </a:pPr>
            <a:r>
              <a:rPr lang="en-US" sz="3400" b="1" dirty="0">
                <a:solidFill>
                  <a:srgbClr val="6B9080"/>
                </a:solidFill>
                <a:latin typeface="Cambria" pitchFamily="34" charset="0"/>
                <a:ea typeface="Cambria" pitchFamily="34" charset="-122"/>
                <a:cs typeface="Cambria" pitchFamily="34" charset="-120"/>
              </a:rPr>
              <a:t>56.41%</a:t>
            </a:r>
            <a:endParaRPr lang="en-US" sz="3400" dirty="0"/>
          </a:p>
        </p:txBody>
      </p:sp>
      <p:sp>
        <p:nvSpPr>
          <p:cNvPr id="18" name="Text 14"/>
          <p:cNvSpPr/>
          <p:nvPr/>
        </p:nvSpPr>
        <p:spPr>
          <a:xfrm>
            <a:off x="4160520" y="5321808"/>
            <a:ext cx="2468880" cy="502920"/>
          </a:xfrm>
          <a:prstGeom prst="rect">
            <a:avLst/>
          </a:prstGeom>
          <a:noFill/>
          <a:ln/>
        </p:spPr>
        <p:txBody>
          <a:bodyPr wrap="square" lIns="0" tIns="0" rIns="0" bIns="0" rtlCol="0" anchor="ctr"/>
          <a:lstStyle/>
          <a:p>
            <a:pPr algn="l" indent="0" marL="0">
              <a:buNone/>
            </a:pPr>
            <a:r>
              <a:rPr lang="en-US" sz="1250" dirty="0">
                <a:solidFill>
                  <a:srgbClr val="5C6F64"/>
                </a:solidFill>
                <a:latin typeface="Calibri" pitchFamily="34" charset="0"/>
                <a:ea typeface="Calibri" pitchFamily="34" charset="-122"/>
                <a:cs typeface="Calibri" pitchFamily="34" charset="-120"/>
              </a:rPr>
              <a:t>vs. rater 2 (exact match)</a:t>
            </a:r>
            <a:endParaRPr lang="en-US" sz="1250" dirty="0"/>
          </a:p>
        </p:txBody>
      </p:sp>
      <p:sp>
        <p:nvSpPr>
          <p:cNvPr id="19" name="Shape 15"/>
          <p:cNvSpPr/>
          <p:nvPr/>
        </p:nvSpPr>
        <p:spPr>
          <a:xfrm>
            <a:off x="7406640" y="1691640"/>
            <a:ext cx="4069080" cy="4709160"/>
          </a:xfrm>
          <a:prstGeom prst="roundRect">
            <a:avLst>
              <a:gd name="adj" fmla="val 2022"/>
            </a:avLst>
          </a:prstGeom>
          <a:solidFill>
            <a:srgbClr val="1B4332"/>
          </a:solidFill>
          <a:ln/>
        </p:spPr>
      </p:sp>
      <p:sp>
        <p:nvSpPr>
          <p:cNvPr id="20" name="Text 16"/>
          <p:cNvSpPr/>
          <p:nvPr/>
        </p:nvSpPr>
        <p:spPr>
          <a:xfrm>
            <a:off x="7680960" y="1965960"/>
            <a:ext cx="3520440" cy="4206240"/>
          </a:xfrm>
          <a:prstGeom prst="rect">
            <a:avLst/>
          </a:prstGeom>
          <a:noFill/>
          <a:ln/>
        </p:spPr>
        <p:txBody>
          <a:bodyPr wrap="square" lIns="0" tIns="0" rIns="0" bIns="0" rtlCol="0" anchor="ctr"/>
          <a:lstStyle/>
          <a:p>
            <a:pPr indent="0" marL="0">
              <a:lnSpc>
                <a:spcPct val="130000"/>
              </a:lnSpc>
              <a:buNone/>
            </a:pPr>
            <a:r>
              <a:rPr lang="en-US" sz="1650" i="1" dirty="0">
                <a:solidFill>
                  <a:srgbClr val="FFFFFF"/>
                </a:solidFill>
                <a:latin typeface="Cambria" pitchFamily="34" charset="0"/>
                <a:ea typeface="Cambria" pitchFamily="34" charset="-122"/>
                <a:cs typeface="Cambria" pitchFamily="34" charset="-120"/>
              </a:rPr>
              <a:t>Humans agree strongly on what “urgency” means for a given tweet.</a:t>
            </a:r>
            <a:endParaRPr lang="en-US" sz="1650" dirty="0"/>
          </a:p>
          <a:p>
            <a:pPr indent="0" marL="0">
              <a:lnSpc>
                <a:spcPct val="130000"/>
              </a:lnSpc>
              <a:buNone/>
            </a:pPr>
            <a:endParaRPr lang="en-US" sz="1650" dirty="0"/>
          </a:p>
          <a:p>
            <a:pPr indent="0" marL="0">
              <a:lnSpc>
                <a:spcPct val="130000"/>
              </a:lnSpc>
              <a:buNone/>
            </a:pPr>
            <a:r>
              <a:rPr lang="en-US" sz="1650" i="1" dirty="0">
                <a:solidFill>
                  <a:srgbClr val="FFFFFF"/>
                </a:solidFill>
                <a:latin typeface="Cambria" pitchFamily="34" charset="0"/>
                <a:ea typeface="Cambria" pitchFamily="34" charset="-122"/>
                <a:cs typeface="Cambria" pitchFamily="34" charset="-120"/>
              </a:rPr>
              <a:t>The deterministic category-level rubric is a useful, honest approximation of that shared judgment, not a replacement for it.</a:t>
            </a:r>
            <a:endParaRPr lang="en-US" sz="1650" dirty="0"/>
          </a:p>
        </p:txBody>
      </p:sp>
      <p:sp>
        <p:nvSpPr>
          <p:cNvPr id="21" name="Text 17"/>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9 / 11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2F9E5D"/>
                </a:solidFill>
                <a:latin typeface="Calibri" pitchFamily="34" charset="0"/>
                <a:ea typeface="Calibri" pitchFamily="34" charset="-122"/>
                <a:cs typeface="Calibri" pitchFamily="34" charset="-120"/>
              </a:rPr>
              <a:t>DEMO</a:t>
            </a:r>
            <a:endParaRPr lang="en-US" sz="1300" dirty="0"/>
          </a:p>
        </p:txBody>
      </p:sp>
      <p:sp>
        <p:nvSpPr>
          <p:cNvPr id="3" name="Text 1"/>
          <p:cNvSpPr/>
          <p:nvPr/>
        </p:nvSpPr>
        <p:spPr>
          <a:xfrm>
            <a:off x="640080" y="685800"/>
            <a:ext cx="10881360" cy="822960"/>
          </a:xfrm>
          <a:prstGeom prst="rect">
            <a:avLst/>
          </a:prstGeom>
          <a:noFill/>
          <a:ln/>
        </p:spPr>
        <p:txBody>
          <a:bodyPr wrap="square" lIns="0" tIns="0" rIns="0" bIns="0" rtlCol="0" anchor="ctr"/>
          <a:lstStyle/>
          <a:p>
            <a:pPr indent="0" marL="0">
              <a:buNone/>
            </a:pPr>
            <a:r>
              <a:rPr lang="en-US" sz="3000" b="1" dirty="0">
                <a:solidFill>
                  <a:srgbClr val="142620"/>
                </a:solidFill>
                <a:latin typeface="Cambria" pitchFamily="34" charset="0"/>
                <a:ea typeface="Cambria" pitchFamily="34" charset="-122"/>
                <a:cs typeface="Cambria" pitchFamily="34" charset="-120"/>
              </a:rPr>
              <a:t>DisasterLens, end to end</a:t>
            </a:r>
            <a:endParaRPr lang="en-US" sz="3000" dirty="0"/>
          </a:p>
        </p:txBody>
      </p:sp>
      <p:pic>
        <p:nvPicPr>
          <p:cNvPr id="4" name="Image 0" descr="/private/tmp/claude-501/-Users-mahekravinagdev-Documents-Waterside-Platform/d8a71d56-bafe-40f9-a96d-59ffcb0fd906/scratchpad/pptxbuild/crops/demo_input.png">    </p:cNvPr>
          <p:cNvPicPr>
            <a:picLocks noChangeAspect="1"/>
          </p:cNvPicPr>
          <p:nvPr/>
        </p:nvPicPr>
        <p:blipFill>
          <a:blip r:embed="rId1"/>
          <a:stretch>
            <a:fillRect/>
          </a:stretch>
        </p:blipFill>
        <p:spPr>
          <a:xfrm>
            <a:off x="640080" y="1645920"/>
            <a:ext cx="3794760" cy="1691640"/>
          </a:xfrm>
          <a:prstGeom prst="rect">
            <a:avLst/>
          </a:prstGeom>
        </p:spPr>
      </p:pic>
      <p:sp>
        <p:nvSpPr>
          <p:cNvPr id="5" name="Text 2"/>
          <p:cNvSpPr/>
          <p:nvPr/>
        </p:nvSpPr>
        <p:spPr>
          <a:xfrm>
            <a:off x="640080" y="3401568"/>
            <a:ext cx="3794760" cy="320040"/>
          </a:xfrm>
          <a:prstGeom prst="rect">
            <a:avLst/>
          </a:prstGeom>
          <a:noFill/>
          <a:ln/>
        </p:spPr>
        <p:txBody>
          <a:bodyPr wrap="square" lIns="0" tIns="0" rIns="0" bIns="0" rtlCol="0" anchor="ctr"/>
          <a:lstStyle/>
          <a:p>
            <a:pPr algn="ctr" indent="0" marL="0">
              <a:buNone/>
            </a:pPr>
            <a:r>
              <a:rPr lang="en-US" sz="1200" i="1" dirty="0">
                <a:solidFill>
                  <a:srgbClr val="5C6F64"/>
                </a:solidFill>
                <a:latin typeface="Calibri" pitchFamily="34" charset="0"/>
                <a:ea typeface="Calibri" pitchFamily="34" charset="-122"/>
                <a:cs typeface="Calibri" pitchFamily="34" charset="-120"/>
              </a:rPr>
              <a:t>Input: aerial image + text report</a:t>
            </a:r>
            <a:endParaRPr lang="en-US" sz="1200" dirty="0"/>
          </a:p>
        </p:txBody>
      </p:sp>
      <p:sp>
        <p:nvSpPr>
          <p:cNvPr id="6" name="Shape 3"/>
          <p:cNvSpPr/>
          <p:nvPr/>
        </p:nvSpPr>
        <p:spPr>
          <a:xfrm>
            <a:off x="640080" y="3977640"/>
            <a:ext cx="3794760" cy="2103120"/>
          </a:xfrm>
          <a:prstGeom prst="roundRect">
            <a:avLst>
              <a:gd name="adj" fmla="val 3913"/>
            </a:avLst>
          </a:prstGeom>
          <a:solidFill>
            <a:srgbClr val="EFF5F1"/>
          </a:solidFill>
          <a:ln/>
          <a:effectLst>
            <a:outerShdw sx="100000" sy="100000" kx="0" ky="0" algn="bl" rotWithShape="0" blurRad="76200" dist="38100" dir="5400000">
              <a:srgbClr val="0A0E27">
                <a:alpha val="25000"/>
              </a:srgbClr>
            </a:outerShdw>
          </a:effectLst>
        </p:spPr>
      </p:sp>
      <p:sp>
        <p:nvSpPr>
          <p:cNvPr id="7" name="Shape 4"/>
          <p:cNvSpPr/>
          <p:nvPr/>
        </p:nvSpPr>
        <p:spPr>
          <a:xfrm>
            <a:off x="914400" y="4251960"/>
            <a:ext cx="621792" cy="621792"/>
          </a:xfrm>
          <a:prstGeom prst="ellipse">
            <a:avLst/>
          </a:prstGeom>
          <a:solidFill>
            <a:srgbClr val="2F9E5D"/>
          </a:solidFill>
          <a:ln/>
        </p:spPr>
      </p:sp>
      <p:pic>
        <p:nvPicPr>
          <p:cNvPr id="8" name="Image 1" descr="/private/tmp/claude-501/-Users-mahekravinagdev-Documents-Waterside-Platform/d8a71d56-bafe-40f9-a96d-59ffcb0fd906/scratchpad/pptxbuild/icons/map.png">    </p:cNvPr>
          <p:cNvPicPr>
            <a:picLocks noChangeAspect="1"/>
          </p:cNvPicPr>
          <p:nvPr/>
        </p:nvPicPr>
        <p:blipFill>
          <a:blip r:embed="rId2"/>
          <a:stretch>
            <a:fillRect/>
          </a:stretch>
        </p:blipFill>
        <p:spPr>
          <a:xfrm>
            <a:off x="1054303" y="4391863"/>
            <a:ext cx="341986" cy="341986"/>
          </a:xfrm>
          <a:prstGeom prst="rect">
            <a:avLst/>
          </a:prstGeom>
        </p:spPr>
      </p:pic>
      <p:sp>
        <p:nvSpPr>
          <p:cNvPr id="9" name="Text 5"/>
          <p:cNvSpPr/>
          <p:nvPr/>
        </p:nvSpPr>
        <p:spPr>
          <a:xfrm>
            <a:off x="1783080" y="4160520"/>
            <a:ext cx="2468880" cy="1737360"/>
          </a:xfrm>
          <a:prstGeom prst="rect">
            <a:avLst/>
          </a:prstGeom>
          <a:noFill/>
          <a:ln/>
        </p:spPr>
        <p:txBody>
          <a:bodyPr wrap="square" lIns="0" tIns="0" rIns="0" bIns="0" rtlCol="0" anchor="ctr"/>
          <a:lstStyle/>
          <a:p>
            <a:pPr indent="0" marL="0">
              <a:lnSpc>
                <a:spcPct val="125000"/>
              </a:lnSpc>
              <a:buNone/>
            </a:pPr>
            <a:r>
              <a:rPr lang="en-US" sz="1400" b="1" dirty="0">
                <a:solidFill>
                  <a:srgbClr val="142620"/>
                </a:solidFill>
                <a:latin typeface="Calibri" pitchFamily="34" charset="0"/>
                <a:ea typeface="Calibri" pitchFamily="34" charset="-122"/>
                <a:cs typeface="Calibri" pitchFamily="34" charset="-120"/>
              </a:rPr>
              <a:t>A geocoded map marker shows responders exactly where to go.</a:t>
            </a:r>
            <a:endParaRPr lang="en-US" sz="1400" dirty="0"/>
          </a:p>
        </p:txBody>
      </p:sp>
      <p:pic>
        <p:nvPicPr>
          <p:cNvPr id="10" name="Image 2" descr="/private/tmp/claude-501/-Users-mahekravinagdev-Documents-Waterside-Platform/d8a71d56-bafe-40f9-a96d-59ffcb0fd906/scratchpad/pptxbuild/crops/demo_output.png">    </p:cNvPr>
          <p:cNvPicPr>
            <a:picLocks noChangeAspect="1"/>
          </p:cNvPicPr>
          <p:nvPr/>
        </p:nvPicPr>
        <p:blipFill>
          <a:blip r:embed="rId3"/>
          <a:stretch>
            <a:fillRect/>
          </a:stretch>
        </p:blipFill>
        <p:spPr>
          <a:xfrm>
            <a:off x="4800600" y="1508760"/>
            <a:ext cx="6309360" cy="4809744"/>
          </a:xfrm>
          <a:prstGeom prst="rect">
            <a:avLst/>
          </a:prstGeom>
        </p:spPr>
      </p:pic>
      <p:sp>
        <p:nvSpPr>
          <p:cNvPr id="11" name="Text 6"/>
          <p:cNvSpPr/>
          <p:nvPr/>
        </p:nvSpPr>
        <p:spPr>
          <a:xfrm>
            <a:off x="4800600" y="6336792"/>
            <a:ext cx="6309360" cy="320040"/>
          </a:xfrm>
          <a:prstGeom prst="rect">
            <a:avLst/>
          </a:prstGeom>
          <a:noFill/>
          <a:ln/>
        </p:spPr>
        <p:txBody>
          <a:bodyPr wrap="square" lIns="0" tIns="0" rIns="0" bIns="0" rtlCol="0" anchor="ctr"/>
          <a:lstStyle/>
          <a:p>
            <a:pPr algn="ctr" indent="0" marL="0">
              <a:buNone/>
            </a:pPr>
            <a:r>
              <a:rPr lang="en-US" sz="1200" i="1" dirty="0">
                <a:solidFill>
                  <a:srgbClr val="5C6F64"/>
                </a:solidFill>
                <a:latin typeface="Calibri" pitchFamily="34" charset="0"/>
                <a:ea typeface="Calibri" pitchFamily="34" charset="-122"/>
                <a:cs typeface="Calibri" pitchFamily="34" charset="-120"/>
              </a:rPr>
              <a:t>Vision + two text signals  →  fused severity &amp; resource priorities</a:t>
            </a:r>
            <a:endParaRPr lang="en-US" sz="1200" dirty="0"/>
          </a:p>
        </p:txBody>
      </p:sp>
      <p:sp>
        <p:nvSpPr>
          <p:cNvPr id="12" name="Text 7"/>
          <p:cNvSpPr/>
          <p:nvPr/>
        </p:nvSpPr>
        <p:spPr>
          <a:xfrm>
            <a:off x="11183112" y="6473952"/>
            <a:ext cx="822960" cy="274320"/>
          </a:xfrm>
          <a:prstGeom prst="rect">
            <a:avLst/>
          </a:prstGeom>
          <a:noFill/>
          <a:ln/>
        </p:spPr>
        <p:txBody>
          <a:bodyPr wrap="square" lIns="0" tIns="0" rIns="0" bIns="0" rtlCol="0" anchor="ctr"/>
          <a:lstStyle/>
          <a:p>
            <a:pPr algn="r" indent="0" marL="0">
              <a:buNone/>
            </a:pPr>
            <a:r>
              <a:rPr lang="en-US" sz="1000" dirty="0">
                <a:solidFill>
                  <a:srgbClr val="5C6F64"/>
                </a:solidFill>
                <a:latin typeface="Calibri" pitchFamily="34" charset="0"/>
                <a:ea typeface="Calibri" pitchFamily="34" charset="-122"/>
                <a:cs typeface="Calibri" pitchFamily="34" charset="-120"/>
              </a:rPr>
              <a:t>10 / 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B21"/>
        </a:solidFill>
      </p:bgPr>
    </p:bg>
    <p:spTree>
      <p:nvGrpSpPr>
        <p:cNvPr id="1" name=""/>
        <p:cNvGrpSpPr/>
        <p:nvPr/>
      </p:nvGrpSpPr>
      <p:grpSpPr>
        <a:xfrm>
          <a:off x="0" y="0"/>
          <a:ext cx="0" cy="0"/>
          <a:chOff x="0" y="0"/>
          <a:chExt cx="0" cy="0"/>
        </a:xfrm>
      </p:grpSpPr>
      <p:sp>
        <p:nvSpPr>
          <p:cNvPr id="2" name="Text 0"/>
          <p:cNvSpPr/>
          <p:nvPr/>
        </p:nvSpPr>
        <p:spPr>
          <a:xfrm>
            <a:off x="777240" y="914400"/>
            <a:ext cx="10515600" cy="118872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Small, independently-trained parts. One clear fusion policy.</a:t>
            </a:r>
            <a:endParaRPr lang="en-US" sz="3200" dirty="0"/>
          </a:p>
        </p:txBody>
      </p:sp>
      <p:sp>
        <p:nvSpPr>
          <p:cNvPr id="3" name="Shape 1"/>
          <p:cNvSpPr/>
          <p:nvPr/>
        </p:nvSpPr>
        <p:spPr>
          <a:xfrm>
            <a:off x="822960" y="2468880"/>
            <a:ext cx="594360" cy="594360"/>
          </a:xfrm>
          <a:prstGeom prst="ellipse">
            <a:avLst/>
          </a:prstGeom>
          <a:solidFill>
            <a:srgbClr val="2F9E5D"/>
          </a:solidFill>
          <a:ln/>
        </p:spPr>
      </p:sp>
      <p:pic>
        <p:nvPicPr>
          <p:cNvPr id="4" name="Image 0" descr="/private/tmp/claude-501/-Users-mahekravinagdev-Documents-Waterside-Platform/d8a71d56-bafe-40f9-a96d-59ffcb0fd906/scratchpad/pptxbuild/icons/lock.png">    </p:cNvPr>
          <p:cNvPicPr>
            <a:picLocks noChangeAspect="1"/>
          </p:cNvPicPr>
          <p:nvPr/>
        </p:nvPicPr>
        <p:blipFill>
          <a:blip r:embed="rId1"/>
          <a:stretch>
            <a:fillRect/>
          </a:stretch>
        </p:blipFill>
        <p:spPr>
          <a:xfrm>
            <a:off x="956691" y="2602611"/>
            <a:ext cx="326898" cy="326898"/>
          </a:xfrm>
          <a:prstGeom prst="rect">
            <a:avLst/>
          </a:prstGeom>
        </p:spPr>
      </p:pic>
      <p:sp>
        <p:nvSpPr>
          <p:cNvPr id="5" name="Text 2"/>
          <p:cNvSpPr/>
          <p:nvPr/>
        </p:nvSpPr>
        <p:spPr>
          <a:xfrm>
            <a:off x="1600200" y="2423160"/>
            <a:ext cx="9601200" cy="685800"/>
          </a:xfrm>
          <a:prstGeom prst="rect">
            <a:avLst/>
          </a:prstGeom>
          <a:noFill/>
          <a:ln/>
        </p:spPr>
        <p:txBody>
          <a:bodyPr wrap="square" lIns="0" tIns="0" rIns="0" bIns="0" rtlCol="0" anchor="ctr"/>
          <a:lstStyle/>
          <a:p>
            <a:pPr indent="0" marL="0">
              <a:lnSpc>
                <a:spcPct val="115000"/>
              </a:lnSpc>
              <a:buNone/>
            </a:pPr>
            <a:r>
              <a:rPr lang="en-US" sz="1550" dirty="0">
                <a:solidFill>
                  <a:srgbClr val="E7ECFA"/>
                </a:solidFill>
                <a:latin typeface="Calibri" pitchFamily="34" charset="0"/>
                <a:ea typeface="Calibri" pitchFamily="34" charset="-122"/>
                <a:cs typeface="Calibri" pitchFamily="34" charset="-120"/>
              </a:rPr>
              <a:t>A fine-tuned vision classifier and a fine-tuned text classifier, each trained cheaply on its own dataset.</a:t>
            </a:r>
            <a:endParaRPr lang="en-US" sz="1550" dirty="0"/>
          </a:p>
        </p:txBody>
      </p:sp>
      <p:sp>
        <p:nvSpPr>
          <p:cNvPr id="6" name="Shape 3"/>
          <p:cNvSpPr/>
          <p:nvPr/>
        </p:nvSpPr>
        <p:spPr>
          <a:xfrm>
            <a:off x="822960" y="3429000"/>
            <a:ext cx="594360" cy="594360"/>
          </a:xfrm>
          <a:prstGeom prst="ellipse">
            <a:avLst/>
          </a:prstGeom>
          <a:solidFill>
            <a:srgbClr val="2F9E5D"/>
          </a:solidFill>
          <a:ln/>
        </p:spPr>
      </p:sp>
      <p:pic>
        <p:nvPicPr>
          <p:cNvPr id="7" name="Image 1" descr="/private/tmp/claude-501/-Users-mahekravinagdev-Documents-Waterside-Platform/d8a71d56-bafe-40f9-a96d-59ffcb0fd906/scratchpad/pptxbuild/icons/brain.png">    </p:cNvPr>
          <p:cNvPicPr>
            <a:picLocks noChangeAspect="1"/>
          </p:cNvPicPr>
          <p:nvPr/>
        </p:nvPicPr>
        <p:blipFill>
          <a:blip r:embed="rId2"/>
          <a:stretch>
            <a:fillRect/>
          </a:stretch>
        </p:blipFill>
        <p:spPr>
          <a:xfrm>
            <a:off x="956691" y="3562731"/>
            <a:ext cx="326898" cy="326898"/>
          </a:xfrm>
          <a:prstGeom prst="rect">
            <a:avLst/>
          </a:prstGeom>
        </p:spPr>
      </p:pic>
      <p:sp>
        <p:nvSpPr>
          <p:cNvPr id="8" name="Text 4"/>
          <p:cNvSpPr/>
          <p:nvPr/>
        </p:nvSpPr>
        <p:spPr>
          <a:xfrm>
            <a:off x="1600200" y="3383280"/>
            <a:ext cx="9601200" cy="685800"/>
          </a:xfrm>
          <a:prstGeom prst="rect">
            <a:avLst/>
          </a:prstGeom>
          <a:noFill/>
          <a:ln/>
        </p:spPr>
        <p:txBody>
          <a:bodyPr wrap="square" lIns="0" tIns="0" rIns="0" bIns="0" rtlCol="0" anchor="ctr"/>
          <a:lstStyle/>
          <a:p>
            <a:pPr indent="0" marL="0">
              <a:lnSpc>
                <a:spcPct val="115000"/>
              </a:lnSpc>
              <a:buNone/>
            </a:pPr>
            <a:r>
              <a:rPr lang="en-US" sz="1550" dirty="0">
                <a:solidFill>
                  <a:srgbClr val="E7ECFA"/>
                </a:solidFill>
                <a:latin typeface="Calibri" pitchFamily="34" charset="0"/>
                <a:ea typeface="Calibri" pitchFamily="34" charset="-122"/>
                <a:cs typeface="Calibri" pitchFamily="34" charset="-120"/>
              </a:rPr>
              <a:t>A general-purpose LLM orchestrating extraction and fusion, with an explicit conflict policy instead of a black box.</a:t>
            </a:r>
            <a:endParaRPr lang="en-US" sz="1550" dirty="0"/>
          </a:p>
        </p:txBody>
      </p:sp>
      <p:sp>
        <p:nvSpPr>
          <p:cNvPr id="9" name="Shape 5"/>
          <p:cNvSpPr/>
          <p:nvPr/>
        </p:nvSpPr>
        <p:spPr>
          <a:xfrm>
            <a:off x="822960" y="4389120"/>
            <a:ext cx="594360" cy="594360"/>
          </a:xfrm>
          <a:prstGeom prst="ellipse">
            <a:avLst/>
          </a:prstGeom>
          <a:solidFill>
            <a:srgbClr val="2F9E5D"/>
          </a:solidFill>
          <a:ln/>
        </p:spPr>
      </p:sp>
      <p:pic>
        <p:nvPicPr>
          <p:cNvPr id="10" name="Image 2" descr="/private/tmp/claude-501/-Users-mahekravinagdev-Documents-Waterside-Platform/d8a71d56-bafe-40f9-a96d-59ffcb0fd906/scratchpad/pptxbuild/icons/users.png">    </p:cNvPr>
          <p:cNvPicPr>
            <a:picLocks noChangeAspect="1"/>
          </p:cNvPicPr>
          <p:nvPr/>
        </p:nvPicPr>
        <p:blipFill>
          <a:blip r:embed="rId3"/>
          <a:stretch>
            <a:fillRect/>
          </a:stretch>
        </p:blipFill>
        <p:spPr>
          <a:xfrm>
            <a:off x="956691" y="4522851"/>
            <a:ext cx="326898" cy="326898"/>
          </a:xfrm>
          <a:prstGeom prst="rect">
            <a:avLst/>
          </a:prstGeom>
        </p:spPr>
      </p:pic>
      <p:sp>
        <p:nvSpPr>
          <p:cNvPr id="11" name="Text 6"/>
          <p:cNvSpPr/>
          <p:nvPr/>
        </p:nvSpPr>
        <p:spPr>
          <a:xfrm>
            <a:off x="1600200" y="4343400"/>
            <a:ext cx="9601200" cy="685800"/>
          </a:xfrm>
          <a:prstGeom prst="rect">
            <a:avLst/>
          </a:prstGeom>
          <a:noFill/>
          <a:ln/>
        </p:spPr>
        <p:txBody>
          <a:bodyPr wrap="square" lIns="0" tIns="0" rIns="0" bIns="0" rtlCol="0" anchor="ctr"/>
          <a:lstStyle/>
          <a:p>
            <a:pPr indent="0" marL="0">
              <a:lnSpc>
                <a:spcPct val="115000"/>
              </a:lnSpc>
              <a:buNone/>
            </a:pPr>
            <a:r>
              <a:rPr lang="en-US" sz="1550" dirty="0">
                <a:solidFill>
                  <a:srgbClr val="E7ECFA"/>
                </a:solidFill>
                <a:latin typeface="Calibri" pitchFamily="34" charset="0"/>
                <a:ea typeface="Calibri" pitchFamily="34" charset="-122"/>
                <a:cs typeface="Calibri" pitchFamily="34" charset="-120"/>
              </a:rPr>
              <a:t>A human-verified urgency rubric, honest about where it's a strong approximation, not ground truth.</a:t>
            </a:r>
            <a:endParaRPr lang="en-US" sz="1550" dirty="0"/>
          </a:p>
        </p:txBody>
      </p:sp>
      <p:sp>
        <p:nvSpPr>
          <p:cNvPr id="12" name="Shape 7"/>
          <p:cNvSpPr/>
          <p:nvPr/>
        </p:nvSpPr>
        <p:spPr>
          <a:xfrm>
            <a:off x="822960" y="5760720"/>
            <a:ext cx="10515600" cy="0"/>
          </a:xfrm>
          <a:prstGeom prst="line">
            <a:avLst/>
          </a:prstGeom>
          <a:noFill/>
          <a:ln w="12700">
            <a:solidFill>
              <a:srgbClr val="35573F"/>
            </a:solidFill>
            <a:prstDash val="solid"/>
          </a:ln>
        </p:spPr>
      </p:sp>
      <p:sp>
        <p:nvSpPr>
          <p:cNvPr id="13" name="Text 8"/>
          <p:cNvSpPr/>
          <p:nvPr/>
        </p:nvSpPr>
        <p:spPr>
          <a:xfrm>
            <a:off x="822960" y="5943600"/>
            <a:ext cx="4572000" cy="457200"/>
          </a:xfrm>
          <a:prstGeom prst="rect">
            <a:avLst/>
          </a:prstGeom>
          <a:noFill/>
          <a:ln/>
        </p:spPr>
        <p:txBody>
          <a:bodyPr wrap="square" lIns="0" tIns="0" rIns="0" bIns="0" rtlCol="0" anchor="ctr"/>
          <a:lstStyle/>
          <a:p>
            <a:pPr indent="0" marL="0">
              <a:buNone/>
            </a:pPr>
            <a:r>
              <a:rPr lang="en-US" sz="2000" b="1" dirty="0">
                <a:solidFill>
                  <a:srgbClr val="2F9E5D"/>
                </a:solidFill>
                <a:latin typeface="Cambria" pitchFamily="34" charset="0"/>
                <a:ea typeface="Cambria" pitchFamily="34" charset="-122"/>
                <a:cs typeface="Cambria" pitchFamily="34" charset="-120"/>
              </a:rPr>
              <a:t>Thank you</a:t>
            </a:r>
            <a:endParaRPr lang="en-US" sz="2000" dirty="0"/>
          </a:p>
        </p:txBody>
      </p:sp>
      <p:sp>
        <p:nvSpPr>
          <p:cNvPr id="14" name="Text 9"/>
          <p:cNvSpPr/>
          <p:nvPr/>
        </p:nvSpPr>
        <p:spPr>
          <a:xfrm>
            <a:off x="5943600" y="5989320"/>
            <a:ext cx="5394960" cy="411480"/>
          </a:xfrm>
          <a:prstGeom prst="rect">
            <a:avLst/>
          </a:prstGeom>
          <a:noFill/>
          <a:ln/>
        </p:spPr>
        <p:txBody>
          <a:bodyPr wrap="square" lIns="0" tIns="0" rIns="0" bIns="0" rtlCol="0" anchor="ctr"/>
          <a:lstStyle/>
          <a:p>
            <a:pPr algn="r" indent="0" marL="0">
              <a:buNone/>
            </a:pPr>
            <a:r>
              <a:rPr lang="en-US" sz="1300" dirty="0">
                <a:solidFill>
                  <a:srgbClr val="8FB09E"/>
                </a:solidFill>
                <a:latin typeface="Calibri" pitchFamily="34" charset="0"/>
                <a:ea typeface="Calibri" pitchFamily="34" charset="-122"/>
                <a:cs typeface="Calibri" pitchFamily="34" charset="-120"/>
              </a:rPr>
              <a:t>github.com/maheknagdev/disasterlens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2026-07-26T22:40:05Z</dcterms:created>
  <dcterms:modified xsi:type="dcterms:W3CDTF">2026-07-26T22:40:05Z</dcterms:modified>
</cp:coreProperties>
</file>